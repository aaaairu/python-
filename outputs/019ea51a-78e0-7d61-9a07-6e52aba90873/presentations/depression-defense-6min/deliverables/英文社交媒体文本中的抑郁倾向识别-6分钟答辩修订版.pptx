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be66fb68efb4e16" /><Relationship Type="http://schemas.openxmlformats.org/officeDocument/2006/relationships/extended-properties" Target="/docProps/app.xml" Id="R37bfff3c25574f5b" /><Relationship Type="http://schemas.openxmlformats.org/officeDocument/2006/relationships/officeDocument" Target="/ppt/presentation.xml" Id="R2dca9329732b4fb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15f4eeb87a45b2"/>
    <p:sldMasterId xmlns:r="http://schemas.openxmlformats.org/officeDocument/2006/relationships" id="2147483660" r:id="R29bc379607e8423e"/>
  </p:sldMasterIdLst>
  <p:notesMasterIdLst>
    <p:notesMasterId xmlns:r="http://schemas.openxmlformats.org/officeDocument/2006/relationships" r:id="Rfb03f3c9f0a748db"/>
  </p:notesMasterIdLst>
  <p:sldIdLst>
    <p:sldId xmlns:r="http://schemas.openxmlformats.org/officeDocument/2006/relationships" id="256" r:id="R04a316020545454d"/>
    <p:sldId xmlns:r="http://schemas.openxmlformats.org/officeDocument/2006/relationships" id="257" r:id="R52c0e578d12e4dc8"/>
    <p:sldId xmlns:r="http://schemas.openxmlformats.org/officeDocument/2006/relationships" id="258" r:id="R433e681e254b4dda"/>
    <p:sldId xmlns:r="http://schemas.openxmlformats.org/officeDocument/2006/relationships" id="259" r:id="R63a42cd702ac4157"/>
    <p:sldId xmlns:r="http://schemas.openxmlformats.org/officeDocument/2006/relationships" id="260" r:id="R5246b22ae0ab4ba6"/>
    <p:sldId xmlns:r="http://schemas.openxmlformats.org/officeDocument/2006/relationships" id="261" r:id="Rdd58e8fdcd87453c"/>
    <p:sldId xmlns:r="http://schemas.openxmlformats.org/officeDocument/2006/relationships" id="262" r:id="Rc8565ed6967e42e9"/>
    <p:sldId xmlns:r="http://schemas.openxmlformats.org/officeDocument/2006/relationships" id="263" r:id="R4d23d208c62345b0"/>
    <p:sldId xmlns:r="http://schemas.openxmlformats.org/officeDocument/2006/relationships" id="264" r:id="Rd2642b0162c044f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d2604fe397745f2" /><Relationship Type="http://schemas.openxmlformats.org/officeDocument/2006/relationships/slideMaster" Target="/ppt/slideMasters/slideMaster1.xml" Id="Rbb15f4eeb87a45b2" /><Relationship Type="http://schemas.openxmlformats.org/officeDocument/2006/relationships/slideMaster" Target="/ppt/slideMasters/slideMaster2.xml" Id="R29bc379607e8423e" /><Relationship Type="http://schemas.openxmlformats.org/officeDocument/2006/relationships/notesMaster" Target="/ppt/notesMasters/notesMaster1.xml" Id="Rfb03f3c9f0a748db" /><Relationship Type="http://schemas.openxmlformats.org/officeDocument/2006/relationships/presProps" Target="/ppt/presProps.xml" Id="R6f7cfb7c9a1142c2" /><Relationship Type="http://schemas.openxmlformats.org/officeDocument/2006/relationships/viewProps" Target="/ppt/viewProps.xml" Id="Rd371137dd5e846c6" /><Relationship Type="http://schemas.openxmlformats.org/officeDocument/2006/relationships/tableStyles" Target="/ppt/tableStyles.xml" Id="Rc45fc57579ea43fd" /><Relationship Type="http://schemas.openxmlformats.org/officeDocument/2006/relationships/slide" Target="/ppt/slides/slide1.xml" Id="R04a316020545454d" /><Relationship Type="http://schemas.openxmlformats.org/officeDocument/2006/relationships/slide" Target="/ppt/slides/slide2.xml" Id="R52c0e578d12e4dc8" /><Relationship Type="http://schemas.openxmlformats.org/officeDocument/2006/relationships/slide" Target="/ppt/slides/slide3.xml" Id="R433e681e254b4dda" /><Relationship Type="http://schemas.openxmlformats.org/officeDocument/2006/relationships/slide" Target="/ppt/slides/slide4.xml" Id="R63a42cd702ac4157" /><Relationship Type="http://schemas.openxmlformats.org/officeDocument/2006/relationships/slide" Target="/ppt/slides/slide5.xml" Id="R5246b22ae0ab4ba6" /><Relationship Type="http://schemas.openxmlformats.org/officeDocument/2006/relationships/slide" Target="/ppt/slides/slide6.xml" Id="Rdd58e8fdcd87453c" /><Relationship Type="http://schemas.openxmlformats.org/officeDocument/2006/relationships/slide" Target="/ppt/slides/slide7.xml" Id="Rc8565ed6967e42e9" /><Relationship Type="http://schemas.openxmlformats.org/officeDocument/2006/relationships/slide" Target="/ppt/slides/slide8.xml" Id="R4d23d208c62345b0" /><Relationship Type="http://schemas.openxmlformats.org/officeDocument/2006/relationships/slide" Target="/ppt/slides/slide9.xml" Id="Rd2642b0162c044f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01d4b306710f42b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ea1ce45d8e24a90" /><Relationship Type="http://schemas.openxmlformats.org/officeDocument/2006/relationships/notesMaster" Target="/ppt/notesMasters/notesMaster1.xml" Id="R239c55101f0e49c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f6ff8b3ece943eb" /><Relationship Type="http://schemas.openxmlformats.org/officeDocument/2006/relationships/notesMaster" Target="/ppt/notesMasters/notesMaster1.xml" Id="R2237bfd8e682413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d729acbd34645cc" /><Relationship Type="http://schemas.openxmlformats.org/officeDocument/2006/relationships/notesMaster" Target="/ppt/notesMasters/notesMaster1.xml" Id="R9ecdd227a937462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cf6e6de868948cc" /><Relationship Type="http://schemas.openxmlformats.org/officeDocument/2006/relationships/notesMaster" Target="/ppt/notesMasters/notesMaster1.xml" Id="R680565bd1a6a4a0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84c624aecc2447a" /><Relationship Type="http://schemas.openxmlformats.org/officeDocument/2006/relationships/notesMaster" Target="/ppt/notesMasters/notesMaster1.xml" Id="Rf999e1d392a9407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e1178cf386d48c3" /><Relationship Type="http://schemas.openxmlformats.org/officeDocument/2006/relationships/notesMaster" Target="/ppt/notesMasters/notesMaster1.xml" Id="Rf536632015ef447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5121d9f1cb843d7" /><Relationship Type="http://schemas.openxmlformats.org/officeDocument/2006/relationships/notesMaster" Target="/ppt/notesMasters/notesMaster1.xml" Id="Rdd0e6e2213f9454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3315b4b37674196" /><Relationship Type="http://schemas.openxmlformats.org/officeDocument/2006/relationships/notesMaster" Target="/ppt/notesMasters/notesMaster1.xml" Id="R7568e799c6a4434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e9f9b2330c7479a" /><Relationship Type="http://schemas.openxmlformats.org/officeDocument/2006/relationships/notesMaster" Target="/ppt/notesMasters/notesMaster1.xml" Id="Rb5f6f73b6dd2443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大家好，我们是任冉和萧准。今天我们汇报的项目是“英文社交媒体文本中的抑郁倾向识别”。这是一个基于Python的课程设计，旨在利用机器学习技术，从社交媒体的文本内容中自动识别用户的抑郁倾向。接下来，我们将详细介绍我们的研究背景、方法和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这是我们项目的总体架构。整个流程从文本输入开始，经过数据预处理、特征提取，然后进入模型训练环节。为了让模型输出更具解释性的概率，我们加入了概率校准步骤。最后，根据校准后的概率进行风险分层，并通过一个图形用户界面（GUI）来直观地展示结果。这个流程清晰地展示了我们从原始数据到最终产品的完整路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我们的研究基于一个公开的Kaggle数据集。这个数据集包含了抑郁、正常、焦虑和自杀倾向四种标签。为了简化问题，我们将其转化为一个二分类任务，将“抑郁”作为正类，其他所有类别归为负类。我们将数据集按8:2的比例划分为训练集、验证集和测试集，总计7647条文本，为模型训练提供了充足的数据支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特征工程是本项目的重点。我们主要使用了三种方法将文本转化为机器能理解的数字。首先是经典的TF-IDF，它能将文本转换成向量。其次，我们引入了VADER工具进行情感分析，提取了积极、消极等四个情感维度作为额外特征。最重要的是，我们使用了一个专业的心理健康词典，来增强模型对抑郁相关词汇的识别能力。这三者结合，构成了我们模型强大的输入特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在模型选择上，我们进行了广泛的尝试。我们测试了逻辑回归、线性支持向量机、随机森林以及XGBoost等多种模型。每种模型都有其特点，比如逻辑回归的可解释性，LinearSVC对高维数据的适应性，以及XGBoost的强大性能。通过在验证集上的反复比较，我们最终选择了综合表现最优的模型作为我们系统的核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模型的性能提升并非一蹴而就。我们进行了一系列的优化工作。首先是数据清洗，保证了数据质量。接着，我们采用过采样和调整类别权重的方法来处理数据不平衡问题。在决策时，我们特别调整了阈值，以最大化召回率，尽可能地减少对抑郁样本的漏判。最后，通过特征消融实验，我们验证了将TF-IDF、VADER和专业词典三者结合使用的方案是效果最好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这是我们最核心的实验结果。可以看到，模型在测试集上的准确率达到了88.8%，F2分数为94.5%。但我们最关注的两个指标是召回率和ROC-AUC。召回率高达97.9%，这意味着几乎所有的抑郁样本都能被我们的模型捕捉到，这对于一个筛查工具来说是至关重要的。同时，ROC-AUC值达到了0.977，说明模型的整体区分能力非常强。老师通常会非常关注这一页的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最后，这是我们开发的图形用户界面。用户可以在左侧输入文本，系统会在右侧实时输出分析结果。例如，当输入积极的文本时，系统会给出一个低风险的评估，抑郁概率仅为2.97%，同时显示VADER的积极情感得分。这个系统直观地展示了我们模型的实际应用效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最后，对我们的工作进行总结和展望。我们成功完成了从数据处理、特征工程到模型训练和系统开发的全流程。当然，项目也存在一些不足，比如目前只支持英文，且数据来源单一。展望未来，我们计划引入像BERT这样更强大的模型，扩展对中文的支持，并将系统部署到网络上，使其能够服务于更多人。我的汇报到此结束，感谢各位老师的聆听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baa009b04b49c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53551dc0054ab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d3df0549f94dc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fc2537b9d64e9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6660efb07046d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9b997925db405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e03232b56e444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298b04a9634200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828115deff4c0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0887360aa747d5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a206a563f04049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936d402d242414f" /></Relationships>
</file>

<file path=ppt/slideLayouts/slideLayout1.xml><?xml version="1.0" encoding="utf-8"?>
<p:sldLayout xmlns:p="http://schemas.openxmlformats.org/presentationml/2006/main" matchingName="标题幻灯片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hape 30">
            <a:extLst xmlns:a="http://schemas.openxmlformats.org/drawingml/2006/main">
              <a:ext uri="{FF2B5EF4-FFF2-40B4-BE49-F238E27FC236}">
                <a16:creationId xmlns:a16="http://schemas.microsoft.com/office/drawing/2014/main" id="{155DF87A-A122-4771-96E2-211DFABA019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43000" y="841772"/>
            <a:ext cx="6858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3" name="Shape 31">
            <a:extLst xmlns:a="http://schemas.openxmlformats.org/drawingml/2006/main">
              <a:ext uri="{FF2B5EF4-FFF2-40B4-BE49-F238E27FC236}">
                <a16:creationId xmlns:a16="http://schemas.microsoft.com/office/drawing/2014/main" id="{74DDCB99-69A8-4BC2-9230-F5E8DD4FAEF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2701528"/>
            <a:ext cx="6858000" cy="1241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  <a:defRPr sz="1800"/>
            </a:lvl1pPr>
            <a:lvl2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500"/>
            </a:lvl2pPr>
            <a:lvl3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400"/>
            </a:lvl3pPr>
            <a:lvl4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/>
            </a:lvl4pPr>
            <a:lvl5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/>
            </a:lvl5pPr>
            <a:lvl6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/>
            </a:lvl6pPr>
            <a:lvl7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/>
            </a:lvl7pPr>
            <a:lvl8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/>
            </a:lvl8pPr>
            <a:lvl9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14" name="Shape 32">
            <a:extLst xmlns:a="http://schemas.openxmlformats.org/drawingml/2006/main">
              <a:ext uri="{FF2B5EF4-FFF2-40B4-BE49-F238E27FC236}">
                <a16:creationId xmlns:a16="http://schemas.microsoft.com/office/drawing/2014/main" id="{A122E04E-E0A7-42FE-92B6-0A3FBC53DDF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5" name="Shape 33">
            <a:extLst xmlns:a="http://schemas.openxmlformats.org/drawingml/2006/main">
              <a:ext uri="{FF2B5EF4-FFF2-40B4-BE49-F238E27FC236}">
                <a16:creationId xmlns:a16="http://schemas.microsoft.com/office/drawing/2014/main" id="{CCD5C36F-0668-426E-879C-4AB5C0DA11C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6" name="Shape 34">
            <a:extLst xmlns:a="http://schemas.openxmlformats.org/drawingml/2006/main">
              <a:ext uri="{FF2B5EF4-FFF2-40B4-BE49-F238E27FC236}">
                <a16:creationId xmlns:a16="http://schemas.microsoft.com/office/drawing/2014/main" id="{FE50958D-7D78-4280-9223-09C59EECC68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标题和内容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hape 54">
            <a:extLst xmlns:a="http://schemas.openxmlformats.org/drawingml/2006/main">
              <a:ext uri="{FF2B5EF4-FFF2-40B4-BE49-F238E27FC236}">
                <a16:creationId xmlns:a16="http://schemas.microsoft.com/office/drawing/2014/main" id="{FEBDB912-8F1C-4470-88C9-2425CC2404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9" name="Shape 55">
            <a:extLst xmlns:a="http://schemas.openxmlformats.org/drawingml/2006/main">
              <a:ext uri="{FF2B5EF4-FFF2-40B4-BE49-F238E27FC236}">
                <a16:creationId xmlns:a16="http://schemas.microsoft.com/office/drawing/2014/main" id="{E9C3C060-B491-408C-8951-62DC94911FB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0" name="Shape 56">
            <a:extLst xmlns:a="http://schemas.openxmlformats.org/drawingml/2006/main">
              <a:ext uri="{FF2B5EF4-FFF2-40B4-BE49-F238E27FC236}">
                <a16:creationId xmlns:a16="http://schemas.microsoft.com/office/drawing/2014/main" id="{E7E250E7-2F26-491A-BABD-47927598855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1" name="Shape 57">
            <a:extLst xmlns:a="http://schemas.openxmlformats.org/drawingml/2006/main">
              <a:ext uri="{FF2B5EF4-FFF2-40B4-BE49-F238E27FC236}">
                <a16:creationId xmlns:a16="http://schemas.microsoft.com/office/drawing/2014/main" id="{C6B69D57-86B4-434E-91F1-F673DC0508B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Shape 58">
            <a:extLst xmlns:a="http://schemas.openxmlformats.org/drawingml/2006/main">
              <a:ext uri="{FF2B5EF4-FFF2-40B4-BE49-F238E27FC236}">
                <a16:creationId xmlns:a16="http://schemas.microsoft.com/office/drawing/2014/main" id="{425B7F94-02EA-47AB-99AE-9B3EA16B83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节标题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hape 59">
            <a:extLst xmlns:a="http://schemas.openxmlformats.org/drawingml/2006/main">
              <a:ext uri="{FF2B5EF4-FFF2-40B4-BE49-F238E27FC236}">
                <a16:creationId xmlns:a16="http://schemas.microsoft.com/office/drawing/2014/main" id="{9DA8AF51-29BA-4734-9E62-04D473A470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282304"/>
            <a:ext cx="7886700" cy="213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5" name="Shape 60">
            <a:extLst xmlns:a="http://schemas.openxmlformats.org/drawingml/2006/main">
              <a:ext uri="{FF2B5EF4-FFF2-40B4-BE49-F238E27FC236}">
                <a16:creationId xmlns:a16="http://schemas.microsoft.com/office/drawing/2014/main" id="{6A70BBE3-1B81-4313-BE86-B0DE39B1A38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3442097"/>
            <a:ext cx="7886700" cy="1125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  <a:defRPr sz="1800">
                <a:solidFill>
                  <a:srgbClr val="888888"/>
                </a:solidFill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5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6" name="Shape 61">
            <a:extLst xmlns:a="http://schemas.openxmlformats.org/drawingml/2006/main">
              <a:ext uri="{FF2B5EF4-FFF2-40B4-BE49-F238E27FC236}">
                <a16:creationId xmlns:a16="http://schemas.microsoft.com/office/drawing/2014/main" id="{6074CFC6-5037-4BAD-8113-7AE55513C4F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Shape 62">
            <a:extLst xmlns:a="http://schemas.openxmlformats.org/drawingml/2006/main">
              <a:ext uri="{FF2B5EF4-FFF2-40B4-BE49-F238E27FC236}">
                <a16:creationId xmlns:a16="http://schemas.microsoft.com/office/drawing/2014/main" id="{25F64333-DF72-4D7D-AD76-42E72F0E09B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8" name="Shape 63">
            <a:extLst xmlns:a="http://schemas.openxmlformats.org/drawingml/2006/main">
              <a:ext uri="{FF2B5EF4-FFF2-40B4-BE49-F238E27FC236}">
                <a16:creationId xmlns:a16="http://schemas.microsoft.com/office/drawing/2014/main" id="{1A051542-1AC1-486B-87AB-6743184ED80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两栏内容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hape 9">
            <a:extLst xmlns:a="http://schemas.openxmlformats.org/drawingml/2006/main">
              <a:ext uri="{FF2B5EF4-FFF2-40B4-BE49-F238E27FC236}">
                <a16:creationId xmlns:a16="http://schemas.microsoft.com/office/drawing/2014/main" id="{04024547-2ABE-457B-8605-CD0AC87206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31" name="Shape 10">
            <a:extLst xmlns:a="http://schemas.openxmlformats.org/drawingml/2006/main">
              <a:ext uri="{FF2B5EF4-FFF2-40B4-BE49-F238E27FC236}">
                <a16:creationId xmlns:a16="http://schemas.microsoft.com/office/drawing/2014/main" id="{40CDFD26-AB32-48EE-98AB-67B71E95CF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2" name="Shape 11">
            <a:extLst xmlns:a="http://schemas.openxmlformats.org/drawingml/2006/main">
              <a:ext uri="{FF2B5EF4-FFF2-40B4-BE49-F238E27FC236}">
                <a16:creationId xmlns:a16="http://schemas.microsoft.com/office/drawing/2014/main" id="{9FF34C18-6A1B-4BBA-84B9-56122E190E5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291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3" name="Shape 12">
            <a:extLst xmlns:a="http://schemas.openxmlformats.org/drawingml/2006/main">
              <a:ext uri="{FF2B5EF4-FFF2-40B4-BE49-F238E27FC236}">
                <a16:creationId xmlns:a16="http://schemas.microsoft.com/office/drawing/2014/main" id="{8FF1B409-7D8A-4A98-94C1-86255F8CFA3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34" name="Shape 13">
            <a:extLst xmlns:a="http://schemas.openxmlformats.org/drawingml/2006/main">
              <a:ext uri="{FF2B5EF4-FFF2-40B4-BE49-F238E27FC236}">
                <a16:creationId xmlns:a16="http://schemas.microsoft.com/office/drawing/2014/main" id="{283A527D-93C9-4451-8D12-65D8154259D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35" name="Shape 14">
            <a:extLst xmlns:a="http://schemas.openxmlformats.org/drawingml/2006/main">
              <a:ext uri="{FF2B5EF4-FFF2-40B4-BE49-F238E27FC236}">
                <a16:creationId xmlns:a16="http://schemas.microsoft.com/office/drawing/2014/main" id="{29358BC6-B160-45D5-9FF6-21CF912B7B2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比较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3C2A977B-F5EA-42BB-8955-3A6E9AEA50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C3A63DE9-AC6C-481C-8CAD-559B5190E07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260872"/>
            <a:ext cx="3868340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DCA1832D-9B19-40C5-BB25-05ADC65CE95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878806"/>
            <a:ext cx="3868340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C8D1AF02-24C9-432B-9696-48CC06863EF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260872"/>
            <a:ext cx="3887391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21E6AD42-3076-4BA3-ACCC-1E8F7D8EB764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29150" y="1878806"/>
            <a:ext cx="3887391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5E18BA59-30A6-4A6D-9F4B-0D53E76F071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82016B73-8B0D-402D-8FB5-8D00687A5B1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40E28448-79D2-4E68-A262-63F83143488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仅标题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Shape 20">
            <a:extLst xmlns:a="http://schemas.openxmlformats.org/drawingml/2006/main">
              <a:ext uri="{FF2B5EF4-FFF2-40B4-BE49-F238E27FC236}">
                <a16:creationId xmlns:a16="http://schemas.microsoft.com/office/drawing/2014/main" id="{6861A257-E89F-43C2-81C7-A3868F00E8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47" name="Shape 21">
            <a:extLst xmlns:a="http://schemas.openxmlformats.org/drawingml/2006/main">
              <a:ext uri="{FF2B5EF4-FFF2-40B4-BE49-F238E27FC236}">
                <a16:creationId xmlns:a16="http://schemas.microsoft.com/office/drawing/2014/main" id="{76A5CBD2-F274-4225-B6F3-8635F7D5A56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48" name="Shape 22">
            <a:extLst xmlns:a="http://schemas.openxmlformats.org/drawingml/2006/main">
              <a:ext uri="{FF2B5EF4-FFF2-40B4-BE49-F238E27FC236}">
                <a16:creationId xmlns:a16="http://schemas.microsoft.com/office/drawing/2014/main" id="{2E2A8BAB-D263-4877-82AF-7A6A8E4004F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49" name="Shape 23">
            <a:extLst xmlns:a="http://schemas.openxmlformats.org/drawingml/2006/main">
              <a:ext uri="{FF2B5EF4-FFF2-40B4-BE49-F238E27FC236}">
                <a16:creationId xmlns:a16="http://schemas.microsoft.com/office/drawing/2014/main" id="{361327B2-360B-4FC4-9269-3C0FC1B85A1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空白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Shape 6">
            <a:extLst xmlns:a="http://schemas.openxmlformats.org/drawingml/2006/main">
              <a:ext uri="{FF2B5EF4-FFF2-40B4-BE49-F238E27FC236}">
                <a16:creationId xmlns:a16="http://schemas.microsoft.com/office/drawing/2014/main" id="{3C488D6F-94AB-482C-99F3-786D51B14CF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52" name="Shape 7">
            <a:extLst xmlns:a="http://schemas.openxmlformats.org/drawingml/2006/main">
              <a:ext uri="{FF2B5EF4-FFF2-40B4-BE49-F238E27FC236}">
                <a16:creationId xmlns:a16="http://schemas.microsoft.com/office/drawing/2014/main" id="{25B37BBC-8EE5-4954-8DF3-6103CE7EE36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53" name="Shape 8">
            <a:extLst xmlns:a="http://schemas.openxmlformats.org/drawingml/2006/main">
              <a:ext uri="{FF2B5EF4-FFF2-40B4-BE49-F238E27FC236}">
                <a16:creationId xmlns:a16="http://schemas.microsoft.com/office/drawing/2014/main" id="{17A478AD-6258-4DEC-A786-91D36E73344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内容与标题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Shape 43">
            <a:extLst xmlns:a="http://schemas.openxmlformats.org/drawingml/2006/main">
              <a:ext uri="{FF2B5EF4-FFF2-40B4-BE49-F238E27FC236}">
                <a16:creationId xmlns:a16="http://schemas.microsoft.com/office/drawing/2014/main" id="{EFEAF95E-90D2-4AF9-AB7C-006AA9D630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56" name="Shape 44">
            <a:extLst xmlns:a="http://schemas.openxmlformats.org/drawingml/2006/main">
              <a:ext uri="{FF2B5EF4-FFF2-40B4-BE49-F238E27FC236}">
                <a16:creationId xmlns:a16="http://schemas.microsoft.com/office/drawing/2014/main" id="{11DC5CD5-361F-4C07-8DE2-2B700353A31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har char="•"/>
              <a:defRPr sz="2400"/>
            </a:lvl1pPr>
            <a:lvl2pPr marL="914400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 sz="2100"/>
            </a:lvl2pPr>
            <a:lvl3pPr marL="137160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 sz="1800"/>
            </a:lvl3pPr>
            <a:lvl4pPr marL="1828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 sz="1500"/>
            </a:lvl4pPr>
            <a:lvl5pPr marL="22860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 sz="1500"/>
            </a:lvl5pPr>
            <a:lvl6pPr marL="27432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 sz="1500"/>
            </a:lvl6pPr>
            <a:lvl7pPr marL="32004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 sz="1500"/>
            </a:lvl7pPr>
            <a:lvl8pPr marL="36576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 sz="1500"/>
            </a:lvl8pPr>
            <a:lvl9pPr marL="4114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 sz="1500"/>
            </a:lvl9pPr>
          </a:lstStyle>
          <a:p xmlns:a="http://schemas.openxmlformats.org/drawingml/2006/main"/>
        </p:txBody>
      </p:sp>
      <p:sp>
        <p:nvSpPr>
          <p:cNvPr id="57" name="Shape 45">
            <a:extLst xmlns:a="http://schemas.openxmlformats.org/drawingml/2006/main">
              <a:ext uri="{FF2B5EF4-FFF2-40B4-BE49-F238E27FC236}">
                <a16:creationId xmlns:a16="http://schemas.microsoft.com/office/drawing/2014/main" id="{13A5FC11-3294-4CCA-B0F3-2CF3E8D8676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58" name="Shape 46">
            <a:extLst xmlns:a="http://schemas.openxmlformats.org/drawingml/2006/main">
              <a:ext uri="{FF2B5EF4-FFF2-40B4-BE49-F238E27FC236}">
                <a16:creationId xmlns:a16="http://schemas.microsoft.com/office/drawing/2014/main" id="{9152BB34-F685-4261-8E3C-8D4F373B796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Shape 47">
            <a:extLst xmlns:a="http://schemas.openxmlformats.org/drawingml/2006/main">
              <a:ext uri="{FF2B5EF4-FFF2-40B4-BE49-F238E27FC236}">
                <a16:creationId xmlns:a16="http://schemas.microsoft.com/office/drawing/2014/main" id="{D7E4577D-769D-47AD-9F83-60A71374A81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60" name="Shape 48">
            <a:extLst xmlns:a="http://schemas.openxmlformats.org/drawingml/2006/main">
              <a:ext uri="{FF2B5EF4-FFF2-40B4-BE49-F238E27FC236}">
                <a16:creationId xmlns:a16="http://schemas.microsoft.com/office/drawing/2014/main" id="{5D17069D-3AB2-4F85-8411-E8777D2D6FF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图片与标题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Shape 24">
            <a:extLst xmlns:a="http://schemas.openxmlformats.org/drawingml/2006/main">
              <a:ext uri="{FF2B5EF4-FFF2-40B4-BE49-F238E27FC236}">
                <a16:creationId xmlns:a16="http://schemas.microsoft.com/office/drawing/2014/main" id="{DC5852A1-E984-47F5-BAC7-E3B258BCDE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63" name="Shape 25">
            <a:extLst xmlns:a="http://schemas.openxmlformats.org/drawingml/2006/main">
              <a:ext uri="{FF2B5EF4-FFF2-40B4-BE49-F238E27FC236}">
                <a16:creationId xmlns:a16="http://schemas.microsoft.com/office/drawing/2014/main" id="{7E1DEF00-9E35-4858-BB36-59E81428F5BB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4" name="Shape 26">
            <a:extLst xmlns:a="http://schemas.openxmlformats.org/drawingml/2006/main">
              <a:ext uri="{FF2B5EF4-FFF2-40B4-BE49-F238E27FC236}">
                <a16:creationId xmlns:a16="http://schemas.microsoft.com/office/drawing/2014/main" id="{2D018DDF-7B9E-428E-9358-55B2A44CDC7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65" name="Shape 27">
            <a:extLst xmlns:a="http://schemas.openxmlformats.org/drawingml/2006/main">
              <a:ext uri="{FF2B5EF4-FFF2-40B4-BE49-F238E27FC236}">
                <a16:creationId xmlns:a16="http://schemas.microsoft.com/office/drawing/2014/main" id="{A883C125-FA22-4104-8DC5-2B17E458C12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66" name="Shape 28">
            <a:extLst xmlns:a="http://schemas.openxmlformats.org/drawingml/2006/main">
              <a:ext uri="{FF2B5EF4-FFF2-40B4-BE49-F238E27FC236}">
                <a16:creationId xmlns:a16="http://schemas.microsoft.com/office/drawing/2014/main" id="{CEEBB96E-252D-45D1-BD46-7FE575F84FC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Shape 29">
            <a:extLst xmlns:a="http://schemas.openxmlformats.org/drawingml/2006/main">
              <a:ext uri="{FF2B5EF4-FFF2-40B4-BE49-F238E27FC236}">
                <a16:creationId xmlns:a16="http://schemas.microsoft.com/office/drawing/2014/main" id="{6F01E5F0-7CE6-4EE9-ABA4-75CB76F6490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标题和竖排文字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Shape 49">
            <a:extLst xmlns:a="http://schemas.openxmlformats.org/drawingml/2006/main">
              <a:ext uri="{FF2B5EF4-FFF2-40B4-BE49-F238E27FC236}">
                <a16:creationId xmlns:a16="http://schemas.microsoft.com/office/drawing/2014/main" id="{265976AD-9C94-4B9F-9107-A83D50BC7A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70" name="Shape 50">
            <a:extLst xmlns:a="http://schemas.openxmlformats.org/drawingml/2006/main">
              <a:ext uri="{FF2B5EF4-FFF2-40B4-BE49-F238E27FC236}">
                <a16:creationId xmlns:a16="http://schemas.microsoft.com/office/drawing/2014/main" id="{2F7C9D91-26C6-40C9-9F2C-37AD6A6BA6A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940248" y="-942379"/>
            <a:ext cx="3263504" cy="788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1" name="Shape 51">
            <a:extLst xmlns:a="http://schemas.openxmlformats.org/drawingml/2006/main">
              <a:ext uri="{FF2B5EF4-FFF2-40B4-BE49-F238E27FC236}">
                <a16:creationId xmlns:a16="http://schemas.microsoft.com/office/drawing/2014/main" id="{348C3808-DD12-4F6E-9511-B752821BC70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72" name="Shape 52">
            <a:extLst xmlns:a="http://schemas.openxmlformats.org/drawingml/2006/main">
              <a:ext uri="{FF2B5EF4-FFF2-40B4-BE49-F238E27FC236}">
                <a16:creationId xmlns:a16="http://schemas.microsoft.com/office/drawing/2014/main" id="{A4ECA5EF-001A-448D-B2CF-842BF08E4F1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73" name="Shape 53">
            <a:extLst xmlns:a="http://schemas.openxmlformats.org/drawingml/2006/main">
              <a:ext uri="{FF2B5EF4-FFF2-40B4-BE49-F238E27FC236}">
                <a16:creationId xmlns:a16="http://schemas.microsoft.com/office/drawing/2014/main" id="{BB41D93E-F5C3-45A0-B933-938F3D736E7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竖排标题与文本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Shape 15">
            <a:extLst xmlns:a="http://schemas.openxmlformats.org/drawingml/2006/main">
              <a:ext uri="{FF2B5EF4-FFF2-40B4-BE49-F238E27FC236}">
                <a16:creationId xmlns:a16="http://schemas.microsoft.com/office/drawing/2014/main" id="{7F13B6C3-61F5-4BCE-95DF-83BC47F803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5350073" y="1467445"/>
            <a:ext cx="4358879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76" name="Shape 16">
            <a:extLst xmlns:a="http://schemas.openxmlformats.org/drawingml/2006/main">
              <a:ext uri="{FF2B5EF4-FFF2-40B4-BE49-F238E27FC236}">
                <a16:creationId xmlns:a16="http://schemas.microsoft.com/office/drawing/2014/main" id="{1643DE15-7E61-4AA4-8E68-588716C8F8B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349573" y="-447080"/>
            <a:ext cx="4358879" cy="580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7" name="Shape 17">
            <a:extLst xmlns:a="http://schemas.openxmlformats.org/drawingml/2006/main">
              <a:ext uri="{FF2B5EF4-FFF2-40B4-BE49-F238E27FC236}">
                <a16:creationId xmlns:a16="http://schemas.microsoft.com/office/drawing/2014/main" id="{5B01A2D0-CF3B-4CF2-BA52-41E92F51B35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78" name="Shape 18">
            <a:extLst xmlns:a="http://schemas.openxmlformats.org/drawingml/2006/main">
              <a:ext uri="{FF2B5EF4-FFF2-40B4-BE49-F238E27FC236}">
                <a16:creationId xmlns:a16="http://schemas.microsoft.com/office/drawing/2014/main" id="{1DAC0AB4-08B4-498F-9A3B-61381EA3DE5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79" name="Shape 19">
            <a:extLst xmlns:a="http://schemas.openxmlformats.org/drawingml/2006/main">
              <a:ext uri="{FF2B5EF4-FFF2-40B4-BE49-F238E27FC236}">
                <a16:creationId xmlns:a16="http://schemas.microsoft.com/office/drawing/2014/main" id="{ED425F6B-3A9D-4159-B3E1-B2CCD679D4E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ed8610b27b74309" /><Relationship Type="http://schemas.openxmlformats.org/officeDocument/2006/relationships/slideLayout" Target="/ppt/slideLayouts/slideLayout1.xml" Id="R414f563235164854" /><Relationship Type="http://schemas.openxmlformats.org/officeDocument/2006/relationships/slideLayout" Target="/ppt/slideLayouts/slideLayout2.xml" Id="Rfeabef10ddf94853" /><Relationship Type="http://schemas.openxmlformats.org/officeDocument/2006/relationships/slideLayout" Target="/ppt/slideLayouts/slideLayout3.xml" Id="R6b9a2281bd5e47b1" /><Relationship Type="http://schemas.openxmlformats.org/officeDocument/2006/relationships/slideLayout" Target="/ppt/slideLayouts/slideLayout4.xml" Id="R7f70d843a5e44980" /><Relationship Type="http://schemas.openxmlformats.org/officeDocument/2006/relationships/slideLayout" Target="/ppt/slideLayouts/slideLayout5.xml" Id="Rf60de877e5064460" /><Relationship Type="http://schemas.openxmlformats.org/officeDocument/2006/relationships/slideLayout" Target="/ppt/slideLayouts/slideLayout6.xml" Id="Rf86063c8d5cb4a93" /><Relationship Type="http://schemas.openxmlformats.org/officeDocument/2006/relationships/slideLayout" Target="/ppt/slideLayouts/slideLayout7.xml" Id="Re094a608609f4a02" /><Relationship Type="http://schemas.openxmlformats.org/officeDocument/2006/relationships/slideLayout" Target="/ppt/slideLayouts/slideLayout8.xml" Id="R9c3454fab7184807" /><Relationship Type="http://schemas.openxmlformats.org/officeDocument/2006/relationships/slideLayout" Target="/ppt/slideLayouts/slideLayout9.xml" Id="R8ee9c34d1603456a" /><Relationship Type="http://schemas.openxmlformats.org/officeDocument/2006/relationships/slideLayout" Target="/ppt/slideLayouts/slideLayout10.xml" Id="Rdde8aa8ae53144a0" /><Relationship Type="http://schemas.openxmlformats.org/officeDocument/2006/relationships/slideLayout" Target="/ppt/slideLayouts/slideLayout11.xml" Id="Re80b53b896e64177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f03148ff15404b87" /><Relationship Type="http://schemas.openxmlformats.org/officeDocument/2006/relationships/slideLayout" Target="/ppt/slideLayouts/slideLayout12.xml" Id="R87541807c47e49af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pe 1">
            <a:extLst xmlns:a="http://schemas.openxmlformats.org/drawingml/2006/main">
              <a:ext uri="{FF2B5EF4-FFF2-40B4-BE49-F238E27FC236}">
                <a16:creationId xmlns:a16="http://schemas.microsoft.com/office/drawing/2014/main" id="{ECD503BB-2BC4-4674-9F96-40993F52CD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3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9761ABD6-BB99-46D4-A95B-7B8B04492C2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har char="•"/>
              <a:defRPr sz="21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 sz="15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8" name="Shape 3">
            <a:extLst xmlns:a="http://schemas.openxmlformats.org/drawingml/2006/main">
              <a:ext uri="{FF2B5EF4-FFF2-40B4-BE49-F238E27FC236}">
                <a16:creationId xmlns:a16="http://schemas.microsoft.com/office/drawing/2014/main" id="{D55501B7-1BF2-439E-AE51-5C17A095D12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9" name="Shape 4">
            <a:extLst xmlns:a="http://schemas.openxmlformats.org/drawingml/2006/main">
              <a:ext uri="{FF2B5EF4-FFF2-40B4-BE49-F238E27FC236}">
                <a16:creationId xmlns:a16="http://schemas.microsoft.com/office/drawing/2014/main" id="{49A2D4A1-A4C2-421E-88BD-4CE4E4CA204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E39D9FBC-1565-468C-BF58-9AF410585F2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14f563235164854"/>
    <p:sldLayoutId xmlns:r="http://schemas.openxmlformats.org/officeDocument/2006/relationships" id="2147483650" r:id="Rfeabef10ddf94853"/>
    <p:sldLayoutId xmlns:r="http://schemas.openxmlformats.org/officeDocument/2006/relationships" id="2147483651" r:id="R6b9a2281bd5e47b1"/>
    <p:sldLayoutId xmlns:r="http://schemas.openxmlformats.org/officeDocument/2006/relationships" id="2147483652" r:id="R7f70d843a5e44980"/>
    <p:sldLayoutId xmlns:r="http://schemas.openxmlformats.org/officeDocument/2006/relationships" id="2147483653" r:id="Rf60de877e5064460"/>
    <p:sldLayoutId xmlns:r="http://schemas.openxmlformats.org/officeDocument/2006/relationships" id="2147483654" r:id="Rf86063c8d5cb4a93"/>
    <p:sldLayoutId xmlns:r="http://schemas.openxmlformats.org/officeDocument/2006/relationships" id="2147483655" r:id="Re094a608609f4a02"/>
    <p:sldLayoutId xmlns:r="http://schemas.openxmlformats.org/officeDocument/2006/relationships" id="2147483656" r:id="R9c3454fab7184807"/>
    <p:sldLayoutId xmlns:r="http://schemas.openxmlformats.org/officeDocument/2006/relationships" id="2147483657" r:id="R8ee9c34d1603456a"/>
    <p:sldLayoutId xmlns:r="http://schemas.openxmlformats.org/officeDocument/2006/relationships" id="2147483658" r:id="Rdde8aa8ae53144a0"/>
    <p:sldLayoutId xmlns:r="http://schemas.openxmlformats.org/officeDocument/2006/relationships" id="2147483659" r:id="Re80b53b896e64177"/>
  </p:sldLayoutIdLst>
  <p:hf sldNum="0" hdr="0" ftr="0" dt="0"/>
  <p:txStyles>
    <p:title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87541807c47e49af"/>
  </p:sldLayoutIdLst>
  <p:hf sldNum="0" hdr="0" ftr="0" dt="0"/>
  <p:txStyles>
    <p:title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7b1a6355c2e44d0" /><Relationship Type="http://schemas.openxmlformats.org/officeDocument/2006/relationships/image" Target="/ppt/media/image.jpeg" Id="Rb5b09dd9d4bd4f71" /><Relationship Type="http://schemas.openxmlformats.org/officeDocument/2006/relationships/image" Target="/ppt/media/image.png" Id="R2c6e505d19e04f6b" /><Relationship Type="http://schemas.openxmlformats.org/officeDocument/2006/relationships/notesSlide" Target="/ppt/notesSlides/notesSlide1.xml" Id="Rc444fecebc0f4be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d07f46b2d824987" /><Relationship Type="http://schemas.openxmlformats.org/officeDocument/2006/relationships/image" Target="/ppt/media/image2.jpeg" Id="Rd00cb790bf464d49" /><Relationship Type="http://schemas.openxmlformats.org/officeDocument/2006/relationships/image" Target="/ppt/media/image2.png" Id="R63ddc73ce0434cd1" /><Relationship Type="http://schemas.openxmlformats.org/officeDocument/2006/relationships/image" Target="/ppt/media/image3.png" Id="R639fe4287d7540d2" /><Relationship Type="http://schemas.openxmlformats.org/officeDocument/2006/relationships/image" Target="/ppt/media/image4.png" Id="R95474560ed8f471c" /><Relationship Type="http://schemas.openxmlformats.org/officeDocument/2006/relationships/image" Target="/ppt/media/image5.png" Id="Re24d932085f740fa" /><Relationship Type="http://schemas.openxmlformats.org/officeDocument/2006/relationships/image" Target="/ppt/media/image6.png" Id="R0af08df934b34def" /><Relationship Type="http://schemas.openxmlformats.org/officeDocument/2006/relationships/image" Target="/ppt/media/image7.png" Id="Rcab8cafb66fb49ca" /><Relationship Type="http://schemas.openxmlformats.org/officeDocument/2006/relationships/image" Target="/ppt/media/image8.png" Id="R6379fd4c44ae47b0" /><Relationship Type="http://schemas.openxmlformats.org/officeDocument/2006/relationships/notesSlide" Target="/ppt/notesSlides/notesSlide2.xml" Id="Rd407d1115f664a5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99078dbdff2467d" /><Relationship Type="http://schemas.openxmlformats.org/officeDocument/2006/relationships/image" Target="/ppt/media/image2.jpeg" Id="Rbecad7ac436c4ee7" /><Relationship Type="http://schemas.openxmlformats.org/officeDocument/2006/relationships/image" Target="/ppt/media/image3.jpeg" Id="Ra572c2e02f2a4fb7" /><Relationship Type="http://schemas.openxmlformats.org/officeDocument/2006/relationships/notesSlide" Target="/ppt/notesSlides/notesSlide3.xml" Id="R169c6ac4927544c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8bfd537dfae41a9" /><Relationship Type="http://schemas.openxmlformats.org/officeDocument/2006/relationships/image" Target="/ppt/media/image2.jpeg" Id="Red6c66b0e2894d60" /><Relationship Type="http://schemas.openxmlformats.org/officeDocument/2006/relationships/image" Target="/ppt/media/image4.jpeg" Id="R57ec7f73d57a411d" /><Relationship Type="http://schemas.openxmlformats.org/officeDocument/2006/relationships/image" Target="/ppt/media/image5.jpeg" Id="Rc5607765ea814290" /><Relationship Type="http://schemas.openxmlformats.org/officeDocument/2006/relationships/image" Target="/ppt/media/image9.png" Id="R22ec7c9990cd47c6" /><Relationship Type="http://schemas.openxmlformats.org/officeDocument/2006/relationships/notesSlide" Target="/ppt/notesSlides/notesSlide4.xml" Id="Redc6735c1dcd4fb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c0c72fc0c314a2d" /><Relationship Type="http://schemas.openxmlformats.org/officeDocument/2006/relationships/image" Target="/ppt/media/image2.jpeg" Id="R2b1add64b4ac475b" /><Relationship Type="http://schemas.openxmlformats.org/officeDocument/2006/relationships/image" Target="/ppt/media/image10.png" Id="Ra20617e88c0c4575" /><Relationship Type="http://schemas.openxmlformats.org/officeDocument/2006/relationships/notesSlide" Target="/ppt/notesSlides/notesSlide5.xml" Id="Ra412267150f445e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15890fe7f734dd2" /><Relationship Type="http://schemas.openxmlformats.org/officeDocument/2006/relationships/image" Target="/ppt/media/image2.jpeg" Id="Rdb88673d476949b4" /><Relationship Type="http://schemas.openxmlformats.org/officeDocument/2006/relationships/image" Target="/ppt/media/image11.png" Id="Rca4fb47feaca4f8d" /><Relationship Type="http://schemas.openxmlformats.org/officeDocument/2006/relationships/image" Target="/ppt/media/image12.png" Id="R79cbcc03ffc343bd" /><Relationship Type="http://schemas.openxmlformats.org/officeDocument/2006/relationships/image" Target="/ppt/media/image13.png" Id="R8a848d999fe94823" /><Relationship Type="http://schemas.openxmlformats.org/officeDocument/2006/relationships/image" Target="/ppt/media/image14.png" Id="R15d5fd1007674517" /><Relationship Type="http://schemas.openxmlformats.org/officeDocument/2006/relationships/image" Target="/ppt/media/image15.png" Id="R97fc89d7bf864793" /><Relationship Type="http://schemas.openxmlformats.org/officeDocument/2006/relationships/notesSlide" Target="/ppt/notesSlides/notesSlide6.xml" Id="R00ccff59e07149c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824623b5ddd4279" /><Relationship Type="http://schemas.openxmlformats.org/officeDocument/2006/relationships/image" Target="/ppt/media/image2.jpeg" Id="R8d0e1a8b1d054265" /><Relationship Type="http://schemas.openxmlformats.org/officeDocument/2006/relationships/image" Target="/ppt/media/image14.png" Id="Rbb1253611bc34210" /><Relationship Type="http://schemas.openxmlformats.org/officeDocument/2006/relationships/image" Target="/ppt/media/image16.png" Id="Rb8b0a7452c884dbc" /><Relationship Type="http://schemas.openxmlformats.org/officeDocument/2006/relationships/image" Target="/ppt/media/image17.png" Id="R5d22ceeb160a495e" /><Relationship Type="http://schemas.openxmlformats.org/officeDocument/2006/relationships/notesSlide" Target="/ppt/notesSlides/notesSlide7.xml" Id="R2ae6ba0a43e24f0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c1e839c2a7742dd" /><Relationship Type="http://schemas.openxmlformats.org/officeDocument/2006/relationships/image" Target="/ppt/media/image2.jpeg" Id="R059f4632972a40b6" /><Relationship Type="http://schemas.openxmlformats.org/officeDocument/2006/relationships/image" Target="/ppt/media/image18.png" Id="R84386f87af1f4fb3" /><Relationship Type="http://schemas.openxmlformats.org/officeDocument/2006/relationships/image" Target="/ppt/media/image19.png" Id="Ra885a9fd7ce2498c" /><Relationship Type="http://schemas.openxmlformats.org/officeDocument/2006/relationships/notesSlide" Target="/ppt/notesSlides/notesSlide8.xml" Id="R347386fa2e4c4bf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23553cd2dd24f56" /><Relationship Type="http://schemas.openxmlformats.org/officeDocument/2006/relationships/image" Target="/ppt/media/image6.jpeg" Id="R19fcdb5900044b36" /><Relationship Type="http://schemas.openxmlformats.org/officeDocument/2006/relationships/image" Target="/ppt/media/image20.png" Id="R1eaec5172fcf4f50" /><Relationship Type="http://schemas.openxmlformats.org/officeDocument/2006/relationships/notesSlide" Target="/ppt/notesSlides/notesSlide9.xml" Id="R7f8e46bda04c4e1d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b5b09dd9d4bd4f71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42540979-F150-451A-9306-5228A9925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941A3F2D-9793-423D-9DFC-4A4810B54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1905000"/>
            <a:ext cx="10160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indent="0" algn="l">
              <a:lnSpc>
                <a:spcPct val="125000"/>
              </a:lnSpc>
              <a:buNone/>
            </a:pPr>
            <a:r>
              <a:rPr sz="4800" b="1" i="0" u="none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英文社交媒体文本中的抑郁倾向识别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6AA14037-9E8B-4220-B6B8-2A0759515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3429000"/>
            <a:ext cx="1016000" cy="76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009B0D78-1065-45FC-8919-C55CB07E9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10160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indent="0" algn="l">
              <a:lnSpc>
                <a:spcPct val="125000"/>
              </a:lnSpc>
              <a:buNone/>
            </a:pPr>
            <a:r>
              <a:rPr sz="2400" b="0" i="0" u="none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Python 应用开发基础 · 6 分钟课程设计答辩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7298A783-5347-45B8-8C71-95456D678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460997"/>
            <a:ext cx="4572000" cy="507997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5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第 7 组｜指导教师：雷杰</a:t>
            </a:r>
          </a:p>
        </p:txBody>
      </p:sp>
      <p:pic>
        <p:nvPicPr>
          <p:cNvPr id="7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6e505d19e04f6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70000" y="556260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00EEA10-08BB-44A0-8C9B-C20CA22FA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460997"/>
            <a:ext cx="4286250" cy="507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indent="0" algn="l">
              <a:lnSpc>
                <a:spcPct val="125000"/>
              </a:lnSpc>
              <a:buNone/>
            </a:pPr>
            <a:r>
              <a:rPr sz="18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成员：任冉｜萧准　2026 年 6 月</a:t>
            </a:r>
          </a:p>
        </p:txBody>
      </p:sp>
    </p:spTree>
    <p:extLst>
      <p:ext uri="{BB962C8B-B14F-4D97-AF65-F5344CB8AC3E}">
        <p14:creationId xmlns:p14="http://schemas.microsoft.com/office/powerpoint/2010/main" val="2074604959"/>
      </p:ext>
    </p:extLst>
  </p:cSld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d00cb790bf464d49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C6F60DB-9B3E-441B-AD8F-FF0861540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45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136B4668-C0EA-499A-9AB7-C5327B38E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01 项目目标与技术路线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0C8B955-8976-41DA-A47C-DCBE1F6EB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97000"/>
            <a:ext cx="10668000" cy="254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5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1EDC0098-2B51-40B4-87A9-BB38D6E6E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32000"/>
            <a:ext cx="5207000" cy="95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DD445FD1-405C-4F82-93AA-330259A9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32000"/>
            <a:ext cx="76200" cy="95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7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ddc73ce0434c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6000" y="2235200"/>
            <a:ext cx="508000" cy="508000"/>
          </a:xfrm>
          <a:prstGeom xmlns:a="http://schemas.openxmlformats.org/drawingml/2006/main" prst="rect">
            <a:avLst/>
          </a:prstGeom>
        </p:spPr>
      </p:pic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2E13E98B-5DFA-4141-9944-2EF227630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000" y="2133600"/>
            <a:ext cx="393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75" b="1" i="0" u="none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01. 课程目标</a:t>
            </a: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75" b="0" i="0" u="none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验证传统机器学习能否识别英文社交媒体文本中的阳性语言模式。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B2A74ECB-7412-4F7B-A256-D2E6F47A9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207000" cy="95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C65A4AA3-9AC8-4FDF-9AEC-30CFC5F09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76200" cy="95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1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9fe4287d7540d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6000" y="3441700"/>
            <a:ext cx="508000" cy="508000"/>
          </a:xfrm>
          <a:prstGeom xmlns:a="http://schemas.openxmlformats.org/drawingml/2006/main" prst="rect">
            <a:avLst/>
          </a:prstGeom>
        </p:spPr>
      </p:pic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E6F2553-FD59-4B1E-9808-B96DD7B17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000" y="3340100"/>
            <a:ext cx="393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75" b="1" i="0" u="none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02. 清洗与去重</a:t>
            </a: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75" b="0" i="0" u="none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英文检测、去 URL、规范化，并用文本指纹防止重复样本泄漏。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2457A8D1-7D5D-4D10-BF53-9DA8CB63A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45000"/>
            <a:ext cx="5207000" cy="95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BC952495-5921-49A9-8D70-37530C12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45000"/>
            <a:ext cx="76200" cy="95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5" name="Pictur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474560ed8f471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6000" y="4648200"/>
            <a:ext cx="508000" cy="508000"/>
          </a:xfrm>
          <a:prstGeom xmlns:a="http://schemas.openxmlformats.org/drawingml/2006/main" prst="rect">
            <a:avLst/>
          </a:prstGeom>
        </p:spPr>
      </p:pic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AB29509F-2671-4F59-9ABF-2A49AE64F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000" y="4546600"/>
            <a:ext cx="393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75" b="1" i="0" u="none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03. 数据切分</a:t>
            </a: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75" b="0" i="0" u="none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按 source_id + label 分层，固定 train / val / test。</a:t>
            </a:r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8F0AEE74-6346-45CC-9FEF-17D0F1112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635"/>
            <a:ext cx="5207000" cy="95186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12700" cmpd="sng">
            <a:solidFill>
              <a:srgbClr val="10B981">
                <a:alpha val="5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8" name="Pictur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4d932085f740f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6000" y="58166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0078927A-8E42-4EE4-9DFC-69FFB2EF2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000" y="5740400"/>
            <a:ext cx="3937000" cy="69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75" b="1" i="0" u="none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04. 特征工程</a:t>
            </a: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275" b="0" i="0" u="none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TF-IDF + 文本统计 + VADER + EMNLP'17 词典计数。</a:t>
            </a:r>
          </a:p>
        </p:txBody>
      </p:sp>
      <p:cxnSp>
        <p:nvCxnSpPr>
          <p:cNvPr id="20" name="Connector 20"/>
          <p:cNvCxnSpPr/>
          <p:nvPr/>
        </p:nvCxnSpPr>
        <p:spPr>
          <a:xfrm xmlns:a="http://schemas.openxmlformats.org/drawingml/2006/main" rot="5390316">
            <a:off x="4032250" y="4279909"/>
            <a:ext cx="45085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10B981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1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6547D101-08BC-4A5E-9C88-43D26B43E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32000"/>
            <a:ext cx="4953000" cy="1206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98A58C52-5552-49BC-A533-526531AF9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32000"/>
            <a:ext cx="76200" cy="1206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3" name="Picture 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f08df934b34de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31000" y="2222500"/>
            <a:ext cx="508000" cy="508000"/>
          </a:xfrm>
          <a:prstGeom xmlns:a="http://schemas.openxmlformats.org/drawingml/2006/main" prst="rect">
            <a:avLst/>
          </a:prstGeom>
        </p:spPr>
      </p:pic>
      <p:sp>
        <p:nvSpPr>
          <p:cNvPr id="24" name="AutoShape 24">
            <a:extLst xmlns:a="http://schemas.openxmlformats.org/drawingml/2006/main">
              <a:ext uri="{FF2B5EF4-FFF2-40B4-BE49-F238E27FC236}">
                <a16:creationId xmlns:a16="http://schemas.microsoft.com/office/drawing/2014/main" id="{EDDFF1E1-F7BB-41D3-BCB8-9BB62F5EF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3000" y="2133600"/>
            <a:ext cx="3810000" cy="10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indent="0" algn="l">
              <a:lnSpc>
                <a:spcPct val="108000"/>
              </a:lnSpc>
              <a:buNone/>
            </a:pPr>
            <a:r>
              <a:rPr sz="1275" b="1" i="0" u="none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05. 模型实验</a:t>
            </a:r>
          </a:p>
          <a:p xmlns:a="http://schemas.openxmlformats.org/drawingml/2006/main">
            <a:pPr indent="0" algn="l">
              <a:lnSpc>
                <a:spcPct val="108000"/>
              </a:lnSpc>
              <a:buNone/>
            </a:pPr>
            <a:r>
              <a:rPr sz="1275" b="0" i="0" u="none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比较 LR、LinearSVC、Random Forest 与 XGBoost。</a:t>
            </a:r>
          </a:p>
        </p:txBody>
      </p:sp>
      <p:sp>
        <p:nvSpPr>
          <p:cNvPr id="25" name="AutoShape 25">
            <a:extLst xmlns:a="http://schemas.openxmlformats.org/drawingml/2006/main">
              <a:ext uri="{FF2B5EF4-FFF2-40B4-BE49-F238E27FC236}">
                <a16:creationId xmlns:a16="http://schemas.microsoft.com/office/drawing/2014/main" id="{2B1105C3-105E-488A-B91D-BF98FD9D7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56000"/>
            <a:ext cx="4953000" cy="1206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AutoShape 26">
            <a:extLst xmlns:a="http://schemas.openxmlformats.org/drawingml/2006/main">
              <a:ext uri="{FF2B5EF4-FFF2-40B4-BE49-F238E27FC236}">
                <a16:creationId xmlns:a16="http://schemas.microsoft.com/office/drawing/2014/main" id="{CA7CBE04-9F06-434B-809A-A43EC1163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56000"/>
            <a:ext cx="76200" cy="1206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7" name="Picture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b8cafb66fb49c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31000" y="3746500"/>
            <a:ext cx="508000" cy="508000"/>
          </a:xfrm>
          <a:prstGeom xmlns:a="http://schemas.openxmlformats.org/drawingml/2006/main" prst="rect">
            <a:avLst/>
          </a:prstGeom>
        </p:spPr>
      </p:pic>
      <p:sp>
        <p:nvSpPr>
          <p:cNvPr id="28" name="AutoShape 28">
            <a:extLst xmlns:a="http://schemas.openxmlformats.org/drawingml/2006/main">
              <a:ext uri="{FF2B5EF4-FFF2-40B4-BE49-F238E27FC236}">
                <a16:creationId xmlns:a16="http://schemas.microsoft.com/office/drawing/2014/main" id="{8BD0692D-C759-48E2-93B9-C2D308FC4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3000" y="3657600"/>
            <a:ext cx="3810000" cy="10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indent="0" algn="l">
              <a:lnSpc>
                <a:spcPct val="108000"/>
              </a:lnSpc>
              <a:buNone/>
            </a:pPr>
            <a:r>
              <a:rPr sz="1275" b="1" i="0" u="none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06. 校准与分档</a:t>
            </a:r>
          </a:p>
          <a:p xmlns:a="http://schemas.openxmlformats.org/drawingml/2006/main">
            <a:pPr indent="0" algn="l">
              <a:lnSpc>
                <a:spcPct val="108000"/>
              </a:lnSpc>
              <a:buNone/>
            </a:pPr>
            <a:r>
              <a:rPr sz="1275" b="0" i="0" u="none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验证集分开完成 Platt 校准和 F2 阈值选择。</a:t>
            </a:r>
          </a:p>
        </p:txBody>
      </p:sp>
      <p:sp>
        <p:nvSpPr>
          <p:cNvPr id="29" name="AutoShape 29">
            <a:extLst xmlns:a="http://schemas.openxmlformats.org/drawingml/2006/main">
              <a:ext uri="{FF2B5EF4-FFF2-40B4-BE49-F238E27FC236}">
                <a16:creationId xmlns:a16="http://schemas.microsoft.com/office/drawing/2014/main" id="{856099EF-7147-4E44-AF9F-24490675A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207000"/>
            <a:ext cx="4953000" cy="1206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12700" cmpd="sng">
            <a:solidFill>
              <a:srgbClr val="10B981">
                <a:alpha val="5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0" name="Picture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79fd4c44ae47b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31000" y="5397500"/>
            <a:ext cx="508000" cy="508000"/>
          </a:xfrm>
          <a:prstGeom xmlns:a="http://schemas.openxmlformats.org/drawingml/2006/main" prst="rect">
            <a:avLst/>
          </a:prstGeom>
        </p:spPr>
      </p:pic>
      <p:sp>
        <p:nvSpPr>
          <p:cNvPr id="31" name="AutoShape 31">
            <a:extLst xmlns:a="http://schemas.openxmlformats.org/drawingml/2006/main">
              <a:ext uri="{FF2B5EF4-FFF2-40B4-BE49-F238E27FC236}">
                <a16:creationId xmlns:a16="http://schemas.microsoft.com/office/drawing/2014/main" id="{97B5078B-6F7F-4101-9CD2-8CD6B5E22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3000" y="5308600"/>
            <a:ext cx="3810000" cy="10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indent="0" algn="l">
              <a:lnSpc>
                <a:spcPct val="108000"/>
              </a:lnSpc>
              <a:buNone/>
            </a:pPr>
            <a:r>
              <a:rPr sz="1275" b="1" i="0" u="none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07. 系统展示</a:t>
            </a:r>
          </a:p>
          <a:p xmlns:a="http://schemas.openxmlformats.org/drawingml/2006/main">
            <a:pPr indent="0" algn="l">
              <a:lnSpc>
                <a:spcPct val="108000"/>
              </a:lnSpc>
              <a:buNone/>
            </a:pPr>
            <a:r>
              <a:rPr sz="1275" b="0" i="0" u="none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Tkinter 单条推理 + CSV 批量脚本；输出不是医学诊断。</a:t>
            </a:r>
          </a:p>
        </p:txBody>
      </p:sp>
      <p:sp>
        <p:nvSpPr>
          <p:cNvPr id="32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DC76A74C-F902-4ACC-B1DF-2408DA975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6730"/>
            <a:ext cx="76200" cy="95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AutoShape 26">
            <a:extLst xmlns:a="http://schemas.openxmlformats.org/drawingml/2006/main">
              <a:ext uri="{FF2B5EF4-FFF2-40B4-BE49-F238E27FC236}">
                <a16:creationId xmlns:a16="http://schemas.microsoft.com/office/drawing/2014/main" id="{04CBCF88-A98D-41A5-BDF5-91827FCB2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199380"/>
            <a:ext cx="76200" cy="1206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755544872"/>
      </p:ext>
    </p:extLst>
  </p:cSld>
</p:sld>
</file>

<file path=ppt/slides/slide3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becad7ac436c4ee7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5BA25965-D2B0-43E2-AB45-2A8EBD896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45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BC17355D-EEDC-4B9D-8212-6C4A1D78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rmAutofit fontScale="93750"/>
          </a:bodyPr>
          <a:lstStyle xmlns:a="http://schemas.openxmlformats.org/drawingml/2006/main"/>
          <a:p xmlns:a="http://schemas.openxmlformats.org/drawingml/2006/main">
            <a:pPr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02 数据集与可复现管理</a:t>
            </a:r>
          </a:p>
        </p:txBody>
      </p:sp>
      <p:pic>
        <p:nvPicPr>
          <p:cNvPr id="4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72c2e02f2a4fb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1524000"/>
            <a:ext cx="1270000" cy="1270000"/>
          </a:xfrm>
          <a:prstGeom xmlns:a="http://schemas.openxmlformats.org/drawingml/2006/main" prst="rect">
            <a:avLst/>
          </a:prstGeom>
          <a:ln xmlns:a="http://schemas.openxmlformats.org/drawingml/2006/main" w="25400" cap="flat" cmpd="sng">
            <a:noFill/>
            <a:prstDash val="solid"/>
            <a:round/>
          </a:ln>
        </p:spPr>
      </p:pic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956BD462-7421-4DC1-B251-3F658384E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524000"/>
            <a:ext cx="87630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1575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实际使用两个公开英文二分类数据源。清洗、英文过滤和跨来源去重后共 7,647 条；标签来自数据集作者或构造规则，不等同于临床诊断。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8B72547-7889-499E-B212-38A04317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02000"/>
            <a:ext cx="5270500" cy="1651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1EAF8276-A925-4589-9272-71ED98DAA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48895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indent="0" algn="l">
              <a:lnSpc>
                <a:spcPct val="108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▍数据来源</a:t>
            </a:r>
          </a:p>
          <a:p xmlns:a="http://schemas.openxmlformats.org/drawingml/2006/main">
            <a:pPr indent="0" algn="l">
              <a:lnSpc>
                <a:spcPct val="125000"/>
              </a:lnSpc>
              <a:buNone/>
            </a:pPr>
            <a:r>
              <a:rPr sz="15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Reddit cleaned：7,413 条，阳性 3,727</a:t>
            </a:r>
          </a:p>
          <a:p xmlns:a="http://schemas.openxmlformats.org/drawingml/2006/main">
            <a:pPr indent="0" algn="l">
              <a:lnSpc>
                <a:spcPct val="125000"/>
              </a:lnSpc>
              <a:buNone/>
            </a:pPr>
            <a:r>
              <a:rPr sz="15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Depression text clf：234 条，阳性 113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B09A6829-8EBD-42CF-8920-6FFBBF413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02000"/>
            <a:ext cx="5270500" cy="1651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415C17DE-5920-43AF-928F-EFA4FD647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29000"/>
            <a:ext cx="48895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indent="0" algn="l">
              <a:lnSpc>
                <a:spcPct val="108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▍SQLite 管理</a:t>
            </a:r>
          </a:p>
          <a:p xmlns:a="http://schemas.openxmlformats.org/drawingml/2006/main">
            <a:pPr indent="0" algn="l">
              <a:lnSpc>
                <a:spcPct val="125000"/>
              </a:lnSpc>
              <a:buNone/>
            </a:pPr>
            <a:r>
              <a:rPr sz="15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单库 depression.db：samples + meta</a:t>
            </a:r>
          </a:p>
          <a:p xmlns:a="http://schemas.openxmlformats.org/drawingml/2006/main">
            <a:pPr indent="0" algn="l">
              <a:lnSpc>
                <a:spcPct val="125000"/>
              </a:lnSpc>
              <a:buNone/>
            </a:pPr>
            <a:r>
              <a:rPr sz="15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记录 source_id、split_name、文本指纹；同时导出 train/val/test CSV。</a:t>
            </a:r>
          </a:p>
        </p:txBody>
      </p:sp>
      <p:graphicFrame>
        <p:nvGraphicFramePr>
          <p:cNvPr id="10" name="Table 10"/>
          <p:cNvGraphicFramePr/>
          <p:nvPr/>
        </p:nvGraphicFramePr>
        <p:xfrm>
          <a:off xmlns:a="http://schemas.openxmlformats.org/drawingml/2006/main" x="762000" y="5207000"/>
          <a:ext xmlns:a="http://schemas.openxmlformats.org/drawingml/2006/main" cx="10668000" cy="1409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56000"/>
                <a:gridCol w="3556000"/>
                <a:gridCol w="3556000"/>
              </a:tblGrid>
              <a:tr h="4699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1" i="0" u="non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数据划分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B981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1" i="0" u="non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样本数量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B981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sz="1400" b="1" i="0" u="none">
                          <a:solidFill>
                            <a:srgbClr val="1F2937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用途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B981">
                        <a:alpha val="20000"/>
                      </a:srgbClr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sz="1300" b="0" i="0" u="non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训练集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sz="1300" b="0" i="0" u="non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4,893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sz="1300" b="0" i="0" u="non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模型拟合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70000"/>
                      </a:srgbClr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sz="1300" b="0" i="0" u="non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验证集 / 测试集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sz="1300" b="0" i="0" u="non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1,224 / 1,530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sz="1300" b="0" i="0" u="none">
                          <a:solidFill>
                            <a:srgbClr val="374151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校准、阈值选择 / 最终评估</a:t>
                      </a:r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50000"/>
                      </a:srgb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2907395"/>
      </p:ext>
    </p:extLst>
  </p:cSld>
</p:sld>
</file>

<file path=ppt/slides/slide4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ed6c66b0e2894d60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9B4049A1-4F2C-4F59-BD67-60988A5A3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4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11F16B9A-5068-403D-A06E-C38E1CCFF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03 特征工程：文本如何转为数值</a:t>
            </a:r>
          </a:p>
        </p:txBody>
      </p:sp>
      <p:cxnSp>
        <p:nvCxnSpPr>
          <p:cNvPr id="4" name="Connector 4"/>
          <p:cNvCxnSpPr/>
          <p:nvPr/>
        </p:nvCxnSpPr>
        <p:spPr>
          <a:xfrm xmlns:a="http://schemas.openxmlformats.org/drawingml/2006/main" rot="-4092">
            <a:off x="762004" y="1390650"/>
            <a:ext cx="10668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rgbClr val="10B981">
                <a:alpha val="5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46BD11D-1BA2-403A-933E-687C577B1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3429000" cy="406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5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B58E9DBC-7CA0-4437-91B4-7CAB4BE45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3429000" cy="76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7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ec7f73d57a411d"/>
          <a:srcRect xmlns:a="http://schemas.openxmlformats.org/drawingml/2006/main" l="5555" t="0" r="55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2500" y="2222500"/>
            <a:ext cx="3048000" cy="1714500"/>
          </a:xfrm>
          <a:prstGeom xmlns:a="http://schemas.openxmlformats.org/drawingml/2006/main" prst="rect">
            <a:avLst/>
          </a:prstGeom>
          <a:ln xmlns:a="http://schemas.openxmlformats.org/drawingml/2006/main" w="25400" cap="flat" cmpd="sng">
            <a:noFill/>
            <a:prstDash val="solid"/>
            <a:round/>
          </a:ln>
        </p:spPr>
      </p:pic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4664660-5426-405F-9543-DDF93E78A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910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01. TF-IDF 文本向量</a:t>
            </a:r>
          </a:p>
        </p:txBody>
      </p:sp>
      <p:cxnSp>
        <p:nvCxnSpPr>
          <p:cNvPr id="9" name="Connector 9"/>
          <p:cNvCxnSpPr/>
          <p:nvPr/>
        </p:nvCxnSpPr>
        <p:spPr>
          <a:xfrm xmlns:a="http://schemas.openxmlformats.org/drawingml/2006/main" rot="-14946">
            <a:off x="952514" y="4692650"/>
            <a:ext cx="2921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1F2937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2E7E54CE-B66C-464C-9FB8-47D585303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89500"/>
            <a:ext cx="3048000" cy="107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indent="0" algn="l">
              <a:lnSpc>
                <a:spcPct val="108000"/>
              </a:lnSpc>
              <a:buNone/>
            </a:pPr>
            <a:r>
              <a:rPr sz="135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一元词 + 二元词，最多 6,000 维。衡量词语的统计重要性，适合稀疏文本分类，但不等于深层语义理解。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9251100-8C21-45CA-8561-4A9E8E7F6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05000"/>
            <a:ext cx="3429000" cy="406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5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CA640E37-769D-4FDA-A4D0-5F83D1AFA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05000"/>
            <a:ext cx="3429000" cy="76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3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607765ea814290"/>
          <a:srcRect xmlns:a="http://schemas.openxmlformats.org/drawingml/2006/main" l="0" t="10466" r="0" b="104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0" y="2222500"/>
            <a:ext cx="3048000" cy="1714500"/>
          </a:xfrm>
          <a:prstGeom xmlns:a="http://schemas.openxmlformats.org/drawingml/2006/main" prst="rect">
            <a:avLst/>
          </a:prstGeom>
          <a:ln xmlns:a="http://schemas.openxmlformats.org/drawingml/2006/main" w="25400" cap="flat" cmpd="sng">
            <a:noFill/>
            <a:prstDash val="solid"/>
            <a:round/>
          </a:ln>
        </p:spPr>
      </p:pic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9537CB0C-78CD-4B0E-8564-08F1ADB52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1910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02. VADER 情感分数</a:t>
            </a:r>
          </a:p>
        </p:txBody>
      </p:sp>
      <p:cxnSp>
        <p:nvCxnSpPr>
          <p:cNvPr id="15" name="Connector 15"/>
          <p:cNvCxnSpPr/>
          <p:nvPr/>
        </p:nvCxnSpPr>
        <p:spPr>
          <a:xfrm xmlns:a="http://schemas.openxmlformats.org/drawingml/2006/main" rot="-14946">
            <a:off x="4572014" y="4692650"/>
            <a:ext cx="2921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1F2937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F5064A6A-4F56-4877-A1A6-94BA83340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889500"/>
            <a:ext cx="3048000" cy="107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indent="0" algn="l">
              <a:lnSpc>
                <a:spcPct val="108000"/>
              </a:lnSpc>
              <a:buNone/>
            </a:pPr>
            <a:r>
              <a:rPr sz="135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提取 compound 综合情感值，为 TF-IDF 补充文本的正负情绪倾向。</a:t>
            </a:r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BF1E560D-0758-476D-8D0A-686E17C85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05000"/>
            <a:ext cx="3429000" cy="406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5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41604193-B033-442C-95A2-DD2D2D813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05000"/>
            <a:ext cx="3429000" cy="76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DF77CF23-CCDD-420A-A45A-CF6F4774B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910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rmAutofit fontScale="99609"/>
          </a:bodyPr>
          <a:lstStyle xmlns:a="http://schemas.openxmlformats.org/drawingml/2006/main"/>
          <a:p xmlns:a="http://schemas.openxmlformats.org/drawingml/2006/main">
            <a:pPr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03. 统计 + EMNLP'17 词典</a:t>
            </a:r>
          </a:p>
        </p:txBody>
      </p:sp>
      <p:cxnSp>
        <p:nvCxnSpPr>
          <p:cNvPr id="21" name="Connector 21"/>
          <p:cNvCxnSpPr/>
          <p:nvPr/>
        </p:nvCxnSpPr>
        <p:spPr>
          <a:xfrm xmlns:a="http://schemas.openxmlformats.org/drawingml/2006/main" rot="-14946">
            <a:off x="8191514" y="4692650"/>
            <a:ext cx="2921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1F2937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969A7DEE-0DA0-4851-97A9-2CE04EECB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889500"/>
            <a:ext cx="3048000" cy="107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indent="0" algn="l">
              <a:lnSpc>
                <a:spcPct val="108000"/>
              </a:lnSpc>
              <a:buNone/>
            </a:pPr>
            <a:r>
              <a:rPr sz="135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字符数、词数、平均词长，以及心理健康词、诊断表达和 subreddit 名称命中计数。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ec7c9990cd47c6"/>
          <a:stretch xmlns:a="http://schemas.openxmlformats.org/drawingml/2006/main"/>
        </p:blipFill>
        <p:spPr>
          <a:xfrm xmlns:a="http://schemas.openxmlformats.org/drawingml/2006/main">
            <a:off x="8215313" y="2222497"/>
            <a:ext cx="3000375" cy="1714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327741"/>
      </p:ext>
    </p:extLst>
  </p:cSld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2b1add64b4ac475b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D1A0E179-2E10-44EF-B3D0-56013EA64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5E0E40C0-6874-40AD-A093-7ECC71B76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04 模型比较与最终选择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4C7146F6-FA13-474D-84FC-BB6BC3424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8000"/>
            <a:ext cx="5207000" cy="1714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5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BA2F954-2A85-4528-A840-6122DB23D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8000"/>
            <a:ext cx="76200" cy="1714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D7678307-D69E-475D-B2A4-A3E24221F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1905000"/>
            <a:ext cx="469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Logistic Regression</a:t>
            </a:r>
          </a:p>
        </p:txBody>
      </p:sp>
      <p:cxnSp>
        <p:nvCxnSpPr>
          <p:cNvPr id="7" name="Connector 7"/>
          <p:cNvCxnSpPr/>
          <p:nvPr/>
        </p:nvCxnSpPr>
        <p:spPr>
          <a:xfrm xmlns:a="http://schemas.openxmlformats.org/drawingml/2006/main" rot="-9291">
            <a:off x="1016009" y="2406650"/>
            <a:ext cx="4699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10B981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27115AE8-DB98-4D28-A13A-2AC4FC1BA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540000"/>
            <a:ext cx="4699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indent="0" algn="l">
              <a:lnSpc>
                <a:spcPct val="108000"/>
              </a:lnSpc>
              <a:buNone/>
            </a:pPr>
            <a:r>
              <a:rPr sz="1425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同域验证 F2 0.939</a:t>
            </a:r>
          </a:p>
          <a:p xmlns:a="http://schemas.openxmlformats.org/drawingml/2006/main">
            <a:pPr indent="0" algn="l">
              <a:lnSpc>
                <a:spcPct val="108000"/>
              </a:lnSpc>
              <a:buNone/>
            </a:pPr>
            <a:r>
              <a:rPr sz="1425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跨数据源 F2 0.717</a:t>
            </a:r>
          </a:p>
          <a:p xmlns:a="http://schemas.openxmlformats.org/drawingml/2006/main">
            <a:pPr indent="0" algn="l">
              <a:lnSpc>
                <a:spcPct val="108000"/>
              </a:lnSpc>
              <a:buNone/>
            </a:pPr>
            <a:r>
              <a:rPr sz="1425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综合分数 0.873（最终选择）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18D82B-7266-4983-9935-BDF882919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5207000" cy="1714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5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C639531E-E8EE-4EF2-A4F2-751318578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76200" cy="1714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156F858C-C30A-41F0-B9A3-46C3DBF6E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3937000"/>
            <a:ext cx="469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LinearSVC</a:t>
            </a:r>
          </a:p>
        </p:txBody>
      </p:sp>
      <p:cxnSp>
        <p:nvCxnSpPr>
          <p:cNvPr id="12" name="Connector 12"/>
          <p:cNvCxnSpPr/>
          <p:nvPr/>
        </p:nvCxnSpPr>
        <p:spPr>
          <a:xfrm xmlns:a="http://schemas.openxmlformats.org/drawingml/2006/main" rot="-9291">
            <a:off x="1016009" y="4438650"/>
            <a:ext cx="4699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10B981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B85FEF85-34C3-4DF2-990B-7097E1178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572000"/>
            <a:ext cx="4699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indent="0" algn="l">
              <a:lnSpc>
                <a:spcPct val="108000"/>
              </a:lnSpc>
              <a:buNone/>
            </a:pPr>
            <a:r>
              <a:rPr sz="1425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同域验证 F2 0.964</a:t>
            </a:r>
          </a:p>
          <a:p xmlns:a="http://schemas.openxmlformats.org/drawingml/2006/main">
            <a:pPr indent="0" algn="l">
              <a:lnSpc>
                <a:spcPct val="108000"/>
              </a:lnSpc>
              <a:buNone/>
            </a:pPr>
            <a:r>
              <a:rPr sz="1425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跨数据源 F2 0.426</a:t>
            </a:r>
          </a:p>
          <a:p xmlns:a="http://schemas.openxmlformats.org/drawingml/2006/main">
            <a:pPr indent="0" algn="l">
              <a:lnSpc>
                <a:spcPct val="108000"/>
              </a:lnSpc>
              <a:buNone/>
            </a:pPr>
            <a:r>
              <a:rPr sz="1425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综合分数 0.802</a:t>
            </a: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8296593-6439-4067-B89F-FD0F4CAF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778000"/>
            <a:ext cx="5207000" cy="1714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5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32CA0F10-3623-4CE0-9006-98AD615A7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778000"/>
            <a:ext cx="76200" cy="1714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DCF2E7D0-ABB4-4FAC-A03F-281F746DB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05000"/>
            <a:ext cx="469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Random Forest</a:t>
            </a:r>
          </a:p>
        </p:txBody>
      </p:sp>
      <p:cxnSp>
        <p:nvCxnSpPr>
          <p:cNvPr id="17" name="Connector 17"/>
          <p:cNvCxnSpPr/>
          <p:nvPr/>
        </p:nvCxnSpPr>
        <p:spPr>
          <a:xfrm xmlns:a="http://schemas.openxmlformats.org/drawingml/2006/main" rot="-9291">
            <a:off x="6477009" y="2406650"/>
            <a:ext cx="4699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10B981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FA5A968F-BEF9-4A9F-9138-8DAE7C50F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40000"/>
            <a:ext cx="4699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indent="0" algn="l">
              <a:lnSpc>
                <a:spcPct val="108000"/>
              </a:lnSpc>
              <a:buNone/>
            </a:pPr>
            <a:r>
              <a:rPr sz="1425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同域验证 F2 0.977</a:t>
            </a:r>
          </a:p>
          <a:p xmlns:a="http://schemas.openxmlformats.org/drawingml/2006/main">
            <a:pPr indent="0" algn="l">
              <a:lnSpc>
                <a:spcPct val="108000"/>
              </a:lnSpc>
              <a:buNone/>
            </a:pPr>
            <a:r>
              <a:rPr sz="1425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缺少同协议跨域结果</a:t>
            </a:r>
          </a:p>
          <a:p xmlns:a="http://schemas.openxmlformats.org/drawingml/2006/main">
            <a:pPr indent="0" algn="l">
              <a:lnSpc>
                <a:spcPct val="108000"/>
              </a:lnSpc>
              <a:buNone/>
            </a:pPr>
            <a:r>
              <a:rPr sz="1425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不进入最终综合选择</a:t>
            </a:r>
          </a:p>
        </p:txBody>
      </p: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9E6C8E9D-9763-41CC-B44F-502249FE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3810000"/>
            <a:ext cx="5207000" cy="1714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5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F5251800-ADF2-4899-A516-E27BF671E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3810000"/>
            <a:ext cx="76200" cy="1714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83606B4A-B47C-45A1-84B8-3CA5518AE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37000"/>
            <a:ext cx="469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XGBoost</a:t>
            </a:r>
          </a:p>
        </p:txBody>
      </p:sp>
      <p:cxnSp>
        <p:nvCxnSpPr>
          <p:cNvPr id="22" name="Connector 22"/>
          <p:cNvCxnSpPr/>
          <p:nvPr/>
        </p:nvCxnSpPr>
        <p:spPr>
          <a:xfrm xmlns:a="http://schemas.openxmlformats.org/drawingml/2006/main" rot="-9291">
            <a:off x="6477009" y="4438650"/>
            <a:ext cx="4699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10B981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>
            <a:extLst xmlns:a="http://schemas.openxmlformats.org/drawingml/2006/main">
              <a:ext uri="{FF2B5EF4-FFF2-40B4-BE49-F238E27FC236}">
                <a16:creationId xmlns:a16="http://schemas.microsoft.com/office/drawing/2014/main" id="{D03C1F21-9941-482D-807A-546CE3018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72000"/>
            <a:ext cx="4699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indent="0" algn="l">
              <a:lnSpc>
                <a:spcPct val="108000"/>
              </a:lnSpc>
              <a:buNone/>
            </a:pPr>
            <a:r>
              <a:rPr sz="1425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同域验证 F2 0.962</a:t>
            </a:r>
          </a:p>
          <a:p xmlns:a="http://schemas.openxmlformats.org/drawingml/2006/main">
            <a:pPr indent="0" algn="l">
              <a:lnSpc>
                <a:spcPct val="108000"/>
              </a:lnSpc>
              <a:buNone/>
            </a:pPr>
            <a:r>
              <a:rPr sz="1425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跨数据源 F2 0.022</a:t>
            </a:r>
          </a:p>
          <a:p xmlns:a="http://schemas.openxmlformats.org/drawingml/2006/main">
            <a:pPr indent="0" algn="l">
              <a:lnSpc>
                <a:spcPct val="108000"/>
              </a:lnSpc>
              <a:buNone/>
            </a:pPr>
            <a:r>
              <a:rPr sz="1425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综合分数 0.680</a:t>
            </a:r>
          </a:p>
        </p:txBody>
      </p:sp>
      <p:sp>
        <p:nvSpPr>
          <p:cNvPr id="24" name="AutoShape 24">
            <a:extLst xmlns:a="http://schemas.openxmlformats.org/drawingml/2006/main">
              <a:ext uri="{FF2B5EF4-FFF2-40B4-BE49-F238E27FC236}">
                <a16:creationId xmlns:a16="http://schemas.microsoft.com/office/drawing/2014/main" id="{32948332-E64D-4359-B3C4-185991070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78500"/>
            <a:ext cx="10668000" cy="762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5000"/>
            </a:srgbClr>
          </a:solidFill>
          <a:ln xmlns:a="http://schemas.openxmlformats.org/drawingml/2006/main" w="12700" cmpd="sng">
            <a:solidFill>
              <a:srgbClr val="10B981">
                <a:alpha val="5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5" name="Picture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0617e88c0c45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6000" y="59563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26" name="AutoShape 26">
            <a:extLst xmlns:a="http://schemas.openxmlformats.org/drawingml/2006/main">
              <a:ext uri="{FF2B5EF4-FFF2-40B4-BE49-F238E27FC236}">
                <a16:creationId xmlns:a16="http://schemas.microsoft.com/office/drawing/2014/main" id="{6BA267EE-E54D-4DED-98CA-85157A910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000" y="5842000"/>
            <a:ext cx="9525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indent="0" algn="l">
              <a:lnSpc>
                <a:spcPct val="125000"/>
              </a:lnSpc>
              <a:buNone/>
            </a:pPr>
            <a:r>
              <a:rPr sz="1350" b="1" i="0" u="none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选择依据：0.7 × 同域验证 F2 + 0.3 × 跨数据源 F2。最终模型再用独立验证子集做 Platt 校准；分数不是患病概率。</a:t>
            </a:r>
          </a:p>
        </p:txBody>
      </p:sp>
    </p:spTree>
    <p:extLst>
      <p:ext uri="{BB962C8B-B14F-4D97-AF65-F5344CB8AC3E}">
        <p14:creationId xmlns:p14="http://schemas.microsoft.com/office/powerpoint/2010/main" val="1387176006"/>
      </p:ext>
    </p:extLst>
  </p:cSld>
</p:sld>
</file>

<file path=ppt/slides/slide6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db88673d476949b4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9DACC1A-DAA0-4070-B37F-A280F4D61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56A6B742-F74B-4059-A32A-064669D10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05 工程优化与实验可信度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32DD3471-B536-4C0D-A01B-75B707248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70000"/>
            <a:ext cx="10668000" cy="254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5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1D311575-19F0-478E-B951-F8F752EF3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8000"/>
            <a:ext cx="34290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CAAFC641-489F-4148-BD5C-C2166A339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8000"/>
            <a:ext cx="3429000" cy="50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7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4fb47feaca4f8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2500" y="196850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784971F6-570A-42C6-8AA9-6B72C072C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000" y="19304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文本去重</a:t>
            </a:r>
          </a:p>
        </p:txBody>
      </p:sp>
      <p:cxnSp>
        <p:nvCxnSpPr>
          <p:cNvPr id="9" name="Connector 9"/>
          <p:cNvCxnSpPr/>
          <p:nvPr/>
        </p:nvCxnSpPr>
        <p:spPr>
          <a:xfrm xmlns:a="http://schemas.openxmlformats.org/drawingml/2006/main" rot="-14323">
            <a:off x="952513" y="2470150"/>
            <a:ext cx="3048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1F2937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E060434C-FC66-4255-A624-8D6B020B8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03500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indent="0" algn="l">
              <a:lnSpc>
                <a:spcPct val="108000"/>
              </a:lnSpc>
              <a:buNone/>
            </a:pPr>
            <a:r>
              <a:rPr sz="135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规范化文本哈希；检查 train / val / test 指纹无重叠。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F1C96629-E600-409D-9850-223FF261E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778000"/>
            <a:ext cx="34290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20061A9B-24A1-4BD4-B988-22FECF92A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778000"/>
            <a:ext cx="3429000" cy="50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3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cbcc03ffc343b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35500" y="196850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B9BCD0D3-AFCD-4651-8FF8-C19A946F0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19304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来源分层</a:t>
            </a:r>
          </a:p>
        </p:txBody>
      </p:sp>
      <p:cxnSp>
        <p:nvCxnSpPr>
          <p:cNvPr id="15" name="Connector 15"/>
          <p:cNvCxnSpPr/>
          <p:nvPr/>
        </p:nvCxnSpPr>
        <p:spPr>
          <a:xfrm xmlns:a="http://schemas.openxmlformats.org/drawingml/2006/main" rot="-14323">
            <a:off x="4635513" y="2470150"/>
            <a:ext cx="3048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1F2937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D5E203D-5129-4788-B8F3-E5A07F12D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2603500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indent="0" algn="l">
              <a:lnSpc>
                <a:spcPct val="108000"/>
              </a:lnSpc>
              <a:buNone/>
            </a:pPr>
            <a:r>
              <a:rPr sz="135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按 source_id + label 联合切分，保留各来源与类别比例。</a:t>
            </a:r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F4DDC448-7C77-42C4-905A-35FFC7F2E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78000"/>
            <a:ext cx="34290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82B49F0D-917F-424D-A9BB-F808AAC06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78000"/>
            <a:ext cx="3429000" cy="50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9" name="Picture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848d999fe948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0" y="196850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20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5B2675CB-9969-4ED3-9E19-FB2537085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0" y="19304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统一 Pipeline</a:t>
            </a:r>
          </a:p>
        </p:txBody>
      </p:sp>
      <p:cxnSp>
        <p:nvCxnSpPr>
          <p:cNvPr id="21" name="Connector 21"/>
          <p:cNvCxnSpPr/>
          <p:nvPr/>
        </p:nvCxnSpPr>
        <p:spPr>
          <a:xfrm xmlns:a="http://schemas.openxmlformats.org/drawingml/2006/main" rot="-14323">
            <a:off x="8191513" y="2470150"/>
            <a:ext cx="3048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1F2937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FE5CA99E-1134-48AB-8CA7-045181517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03500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indent="0" algn="l">
              <a:lnSpc>
                <a:spcPct val="108000"/>
              </a:lnSpc>
              <a:buNone/>
            </a:pPr>
            <a:r>
              <a:rPr sz="135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特征、缩放、过采样和分类器统一保存，保证单条与批量推理一致。</a:t>
            </a:r>
          </a:p>
        </p:txBody>
      </p:sp>
      <p:sp>
        <p:nvSpPr>
          <p:cNvPr id="23" name="AutoShape 23">
            <a:extLst xmlns:a="http://schemas.openxmlformats.org/drawingml/2006/main">
              <a:ext uri="{FF2B5EF4-FFF2-40B4-BE49-F238E27FC236}">
                <a16:creationId xmlns:a16="http://schemas.microsoft.com/office/drawing/2014/main" id="{A45B4CA6-8B89-4A40-83FD-F07061B2B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5270500" cy="1968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AutoShape 24">
            <a:extLst xmlns:a="http://schemas.openxmlformats.org/drawingml/2006/main">
              <a:ext uri="{FF2B5EF4-FFF2-40B4-BE49-F238E27FC236}">
                <a16:creationId xmlns:a16="http://schemas.microsoft.com/office/drawing/2014/main" id="{D7954FA6-AD5C-4C71-9100-764AAC8FA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5270500" cy="50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5" name="Picture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d5fd10076745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2500" y="438150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26" name="AutoShape 26">
            <a:extLst xmlns:a="http://schemas.openxmlformats.org/drawingml/2006/main">
              <a:ext uri="{FF2B5EF4-FFF2-40B4-BE49-F238E27FC236}">
                <a16:creationId xmlns:a16="http://schemas.microsoft.com/office/drawing/2014/main" id="{19D0C4D3-DA45-41F5-9ED7-5BE7ACB03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000" y="4343400"/>
            <a:ext cx="444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验证集隔离</a:t>
            </a:r>
          </a:p>
        </p:txBody>
      </p:sp>
      <p:cxnSp>
        <p:nvCxnSpPr>
          <p:cNvPr id="27" name="Connector 27"/>
          <p:cNvCxnSpPr/>
          <p:nvPr/>
        </p:nvCxnSpPr>
        <p:spPr>
          <a:xfrm xmlns:a="http://schemas.openxmlformats.org/drawingml/2006/main" rot="-9046">
            <a:off x="952508" y="48831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1F2937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8" name="AutoShape 28">
            <a:extLst xmlns:a="http://schemas.openxmlformats.org/drawingml/2006/main">
              <a:ext uri="{FF2B5EF4-FFF2-40B4-BE49-F238E27FC236}">
                <a16:creationId xmlns:a16="http://schemas.microsoft.com/office/drawing/2014/main" id="{AB19E1F7-3BC0-4B4C-8E93-F98081DFB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16500"/>
            <a:ext cx="4889500" cy="10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indent="0" algn="l">
              <a:lnSpc>
                <a:spcPct val="117000"/>
              </a:lnSpc>
              <a:buNone/>
            </a:pPr>
            <a:r>
              <a:rPr sz="135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校准与 F2 阈值选择使用不同验证子集，降低重复利用。</a:t>
            </a:r>
          </a:p>
        </p:txBody>
      </p:sp>
      <p:sp>
        <p:nvSpPr>
          <p:cNvPr id="29" name="AutoShape 29">
            <a:extLst xmlns:a="http://schemas.openxmlformats.org/drawingml/2006/main">
              <a:ext uri="{FF2B5EF4-FFF2-40B4-BE49-F238E27FC236}">
                <a16:creationId xmlns:a16="http://schemas.microsoft.com/office/drawing/2014/main" id="{86EF3C65-B46C-47F8-8D87-A96EA2633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4191000"/>
            <a:ext cx="5270500" cy="1968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AutoShape 30">
            <a:extLst xmlns:a="http://schemas.openxmlformats.org/drawingml/2006/main">
              <a:ext uri="{FF2B5EF4-FFF2-40B4-BE49-F238E27FC236}">
                <a16:creationId xmlns:a16="http://schemas.microsoft.com/office/drawing/2014/main" id="{574CA762-730E-4DDB-B661-5143D3C6F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4191000"/>
            <a:ext cx="5270500" cy="50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1" name="Picture 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fc89d7bf8647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40500" y="438150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32" name="AutoShape 32">
            <a:extLst xmlns:a="http://schemas.openxmlformats.org/drawingml/2006/main">
              <a:ext uri="{FF2B5EF4-FFF2-40B4-BE49-F238E27FC236}">
                <a16:creationId xmlns:a16="http://schemas.microsoft.com/office/drawing/2014/main" id="{AFFA8531-5154-4864-BCA1-0758DFF96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0" y="4343400"/>
            <a:ext cx="444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可复现记录</a:t>
            </a:r>
          </a:p>
        </p:txBody>
      </p:sp>
      <p:cxnSp>
        <p:nvCxnSpPr>
          <p:cNvPr id="33" name="Connector 33"/>
          <p:cNvCxnSpPr/>
          <p:nvPr/>
        </p:nvCxnSpPr>
        <p:spPr>
          <a:xfrm xmlns:a="http://schemas.openxmlformats.org/drawingml/2006/main" rot="-9046">
            <a:off x="6540508" y="48831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1F2937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4" name="AutoShape 34">
            <a:extLst xmlns:a="http://schemas.openxmlformats.org/drawingml/2006/main">
              <a:ext uri="{FF2B5EF4-FFF2-40B4-BE49-F238E27FC236}">
                <a16:creationId xmlns:a16="http://schemas.microsoft.com/office/drawing/2014/main" id="{9EF6BF7E-4C07-4816-85C7-1F2E57C9B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0500" y="5016500"/>
            <a:ext cx="4889500" cy="10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indent="0" algn="l">
              <a:lnSpc>
                <a:spcPct val="117000"/>
              </a:lnSpc>
              <a:buNone/>
            </a:pPr>
            <a:r>
              <a:rPr sz="135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固定随机种子 42；保存代码版本、依赖版本、数据指纹和模型版本。</a:t>
            </a:r>
          </a:p>
        </p:txBody>
      </p:sp>
    </p:spTree>
    <p:extLst>
      <p:ext uri="{BB962C8B-B14F-4D97-AF65-F5344CB8AC3E}">
        <p14:creationId xmlns:p14="http://schemas.microsoft.com/office/powerpoint/2010/main" val="1128207400"/>
      </p:ext>
    </p:extLst>
  </p:cSld>
</p:sld>
</file>

<file path=ppt/slides/slide7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8d0e1a8b1d054265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8262C856-F7BB-49D4-A9C7-36B88891C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B1A42855-B2DF-4558-8F31-17855FD7E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rmAutofit fontScale="93750"/>
          </a:bodyPr>
          <a:lstStyle xmlns:a="http://schemas.openxmlformats.org/drawingml/2006/main"/>
          <a:p xmlns:a="http://schemas.openxmlformats.org/drawingml/2006/main">
            <a:pPr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06 实验结果：同域强，跨域仍有差距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4D167D36-3413-42CE-8DD7-621E90B44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2540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C194EAD4-32A6-406F-B916-E725253EB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7780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25000"/>
              </a:lnSpc>
              <a:buNone/>
            </a:pPr>
            <a:r>
              <a:rPr sz="1600" b="0" i="0" u="none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Accuracy (准确率)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0F1AD9B-D307-41DF-819F-DB6C48DCA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2286000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25000"/>
              </a:lnSpc>
              <a:buNone/>
            </a:pPr>
            <a:r>
              <a:rPr sz="3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0.888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854D7F28-BF06-4107-B0B9-59072D1BE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0" y="1651000"/>
            <a:ext cx="2540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DABD5D86-B2A9-427B-B115-25FA0662E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3000" y="17780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25000"/>
              </a:lnSpc>
              <a:buNone/>
            </a:pPr>
            <a:r>
              <a:rPr sz="1600" b="0" i="0" u="none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Recall (召回率)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E25370D-4304-4FDC-97D6-3FCC74BE2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3000" y="2286000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25000"/>
              </a:lnSpc>
              <a:buNone/>
            </a:pPr>
            <a:r>
              <a:rPr sz="3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0.979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0C32B55D-98B6-4B92-83B3-02FDBDC1A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2540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5172BD63-62EB-4A95-B687-0536AB9BD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35560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25000"/>
              </a:lnSpc>
              <a:buNone/>
            </a:pPr>
            <a:r>
              <a:rPr sz="1600" b="0" i="0" u="none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F2 Score (F2分数)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21B1BCD-2FFC-43E0-B405-33820EC60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064000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25000"/>
              </a:lnSpc>
              <a:buNone/>
            </a:pPr>
            <a:r>
              <a:rPr sz="3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0.945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E5387E7A-0029-495D-9AC2-1B1BCA33F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0" y="3429000"/>
            <a:ext cx="2540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4076D674-7BF3-4ABB-9DF3-FDD668C5E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3000" y="35560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25000"/>
              </a:lnSpc>
              <a:buNone/>
            </a:pPr>
            <a:r>
              <a:rPr sz="1600" b="0" i="0" u="none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ROC-AUC (曲线下面积)</a:t>
            </a: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5E3E7895-7B83-4EA9-9704-1F1FD65C3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3000" y="4064000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indent="0" algn="l">
              <a:lnSpc>
                <a:spcPct val="125000"/>
              </a:lnSpc>
              <a:buNone/>
            </a:pPr>
            <a:r>
              <a:rPr sz="3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0.977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7C11A3C1-D65E-4419-8B2D-3B37FEE73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5334000" cy="1016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C8CEDDE9-0F9D-4624-94D3-0C3C347FC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5461000"/>
            <a:ext cx="508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indent="0" algn="l">
              <a:lnSpc>
                <a:spcPct val="117000"/>
              </a:lnSpc>
              <a:buNone/>
            </a:pPr>
            <a:r>
              <a:rPr sz="1275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同域测试集 1,530 条。F2 的 95% bootstrap 区间约为 0.933–0.955。高召回带来更多误报：Precision 0.828，Specificity 0.795。</a:t>
            </a:r>
          </a:p>
        </p:txBody>
      </p:sp>
      <p:cxnSp>
        <p:nvCxnSpPr>
          <p:cNvPr id="18" name="Connector 18"/>
          <p:cNvCxnSpPr/>
          <p:nvPr/>
        </p:nvCxnSpPr>
        <p:spPr>
          <a:xfrm xmlns:a="http://schemas.openxmlformats.org/drawingml/2006/main" rot="5390708">
            <a:off x="4064000" y="3994159"/>
            <a:ext cx="4699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10B981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0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F535EDEE-2281-47D1-B254-9236AB88E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0" y="4318000"/>
            <a:ext cx="23495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1253611bc342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31000" y="444500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A23A7FE0-7A38-46D9-BF6D-AC11485A2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0" y="4419600"/>
            <a:ext cx="171450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rmAutofit fontScale="93771"/>
          </a:bodyPr>
          <a:lstStyle xmlns:a="http://schemas.openxmlformats.org/drawingml/2006/main"/>
          <a:p xmlns:a="http://schemas.openxmlformats.org/drawingml/2006/main">
            <a:pPr indent="0" algn="l">
              <a:lnSpc>
                <a:spcPct val="125000"/>
              </a:lnSpc>
              <a:buNone/>
            </a:pPr>
            <a:r>
              <a:rPr sz="1600" b="1" i="0" u="none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低漏判，但非零代价</a:t>
            </a:r>
          </a:p>
        </p:txBody>
      </p:sp>
      <p:cxnSp>
        <p:nvCxnSpPr>
          <p:cNvPr id="23" name="Connector 23"/>
          <p:cNvCxnSpPr/>
          <p:nvPr/>
        </p:nvCxnSpPr>
        <p:spPr>
          <a:xfrm xmlns:a="http://schemas.openxmlformats.org/drawingml/2006/main" rot="-20834">
            <a:off x="6731019" y="4883150"/>
            <a:ext cx="20955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10B981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AutoShape 24">
            <a:extLst xmlns:a="http://schemas.openxmlformats.org/drawingml/2006/main">
              <a:ext uri="{FF2B5EF4-FFF2-40B4-BE49-F238E27FC236}">
                <a16:creationId xmlns:a16="http://schemas.microsoft.com/office/drawing/2014/main" id="{CB6A5822-75FF-4A56-B5D6-33CB0D284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1000" y="5080000"/>
            <a:ext cx="2095500" cy="10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indent="0" algn="l">
              <a:lnSpc>
                <a:spcPct val="108000"/>
              </a:lnSpc>
              <a:buNone/>
            </a:pPr>
            <a:r>
              <a:rPr sz="1275" b="0" i="0" u="none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Recall 0.979；模型偏向召回阳性样本，因此准确率与特异度相对较低。</a:t>
            </a:r>
          </a:p>
        </p:txBody>
      </p:sp>
      <p:sp>
        <p:nvSpPr>
          <p:cNvPr id="25" name="AutoShape 25">
            <a:extLst xmlns:a="http://schemas.openxmlformats.org/drawingml/2006/main">
              <a:ext uri="{FF2B5EF4-FFF2-40B4-BE49-F238E27FC236}">
                <a16:creationId xmlns:a16="http://schemas.microsoft.com/office/drawing/2014/main" id="{59FC9B77-C369-45FE-A9D8-1793B67FD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0500" y="4318000"/>
            <a:ext cx="23495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6" name="Picture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b0a7452c884db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07500" y="444500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27" name="AutoShape 27">
            <a:extLst xmlns:a="http://schemas.openxmlformats.org/drawingml/2006/main">
              <a:ext uri="{FF2B5EF4-FFF2-40B4-BE49-F238E27FC236}">
                <a16:creationId xmlns:a16="http://schemas.microsoft.com/office/drawing/2014/main" id="{D74C5D27-C689-4844-8F70-7066C211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8500" y="4419600"/>
            <a:ext cx="171450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indent="0" algn="l">
              <a:lnSpc>
                <a:spcPct val="125000"/>
              </a:lnSpc>
              <a:buNone/>
            </a:pPr>
            <a:r>
              <a:rPr sz="1600" b="1" i="0" u="none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跨数据源下降</a:t>
            </a:r>
          </a:p>
        </p:txBody>
      </p:sp>
      <p:cxnSp>
        <p:nvCxnSpPr>
          <p:cNvPr id="28" name="Connector 28"/>
          <p:cNvCxnSpPr/>
          <p:nvPr/>
        </p:nvCxnSpPr>
        <p:spPr>
          <a:xfrm xmlns:a="http://schemas.openxmlformats.org/drawingml/2006/main" rot="-20834">
            <a:off x="9207519" y="4883150"/>
            <a:ext cx="20955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10B981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" name="AutoShape 29">
            <a:extLst xmlns:a="http://schemas.openxmlformats.org/drawingml/2006/main">
              <a:ext uri="{FF2B5EF4-FFF2-40B4-BE49-F238E27FC236}">
                <a16:creationId xmlns:a16="http://schemas.microsoft.com/office/drawing/2014/main" id="{1E720E7A-E8D6-47AA-9C80-7C14989F2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7500" y="5080000"/>
            <a:ext cx="2095500" cy="10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indent="0" algn="l">
              <a:lnSpc>
                <a:spcPct val="108000"/>
              </a:lnSpc>
              <a:buNone/>
            </a:pPr>
            <a:r>
              <a:rPr sz="1275" b="0" i="0" u="none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逻辑回归 OOD F2 0.717，说明来源与写作风格变化会影响泛化。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22ceeb160a495e"/>
          <a:stretch xmlns:a="http://schemas.openxmlformats.org/drawingml/2006/main"/>
        </p:blipFill>
        <p:spPr>
          <a:xfrm xmlns:a="http://schemas.openxmlformats.org/drawingml/2006/main">
            <a:off x="7508875" y="1650997"/>
            <a:ext cx="3016246" cy="241299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430785"/>
      </p:ext>
    </p:extLst>
  </p:cSld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059f4632972a40b6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BA6518F1-1EF9-4B76-B609-E9A8BC8DB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5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82DC6AB4-8803-4367-B03D-17DAA414F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rmAutofit fontScale="93750"/>
          </a:bodyPr>
          <a:lstStyle xmlns:a="http://schemas.openxmlformats.org/drawingml/2006/main"/>
          <a:p xmlns:a="http://schemas.openxmlformats.org/drawingml/2006/main">
            <a:pPr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07 系统演示：真实 Tkinter 界面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E3432446-0865-4404-B251-C691E8CF3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77216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282468E1-3D5A-4570-AF12-14DCFE204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61000"/>
            <a:ext cx="73406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indent="0" algn="l">
              <a:lnSpc>
                <a:spcPct val="108000"/>
              </a:lnSpc>
              <a:buNone/>
            </a:pPr>
            <a:r>
              <a:rPr sz="1275" b="0" i="0" u="none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实际功能：Tkinter 单条推理；CSV 批量推理通过命令行脚本完成。系统仅适用于英文文本，不使用 RoBERTa，结果不作为医学诊断。</a:t>
            </a:r>
          </a:p>
        </p:txBody>
      </p:sp>
      <p:cxnSp>
        <p:nvCxnSpPr>
          <p:cNvPr id="14" name="Connector 14"/>
          <p:cNvCxnSpPr/>
          <p:nvPr/>
        </p:nvCxnSpPr>
        <p:spPr>
          <a:xfrm xmlns:a="http://schemas.openxmlformats.org/drawingml/2006/main" rot="5390177">
            <a:off x="6540500" y="3994159"/>
            <a:ext cx="4445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rgbClr val="10B981">
                <a:alpha val="4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D23B836A-EEBB-4080-807C-1190230C3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7000" y="1778000"/>
            <a:ext cx="2667000" cy="1841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12700" cmpd="sng">
            <a:solidFill>
              <a:srgbClr val="D1D5DB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6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386f87af1f4f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44000" y="1905000"/>
            <a:ext cx="254000" cy="254000"/>
          </a:xfrm>
          <a:prstGeom xmlns:a="http://schemas.openxmlformats.org/drawingml/2006/main" prst="rect">
            <a:avLst/>
          </a:prstGeom>
        </p:spPr>
      </p:pic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02A15AB0-24C7-4A4E-86E2-47C331CE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879600"/>
            <a:ext cx="203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indent="0" algn="l">
              <a:lnSpc>
                <a:spcPct val="125000"/>
              </a:lnSpc>
              <a:buNone/>
            </a:pPr>
            <a:r>
              <a:rPr sz="1600" b="1" i="0" u="none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演示文本</a:t>
            </a:r>
          </a:p>
        </p:txBody>
      </p:sp>
      <p:cxnSp>
        <p:nvCxnSpPr>
          <p:cNvPr id="18" name="Connector 18"/>
          <p:cNvCxnSpPr/>
          <p:nvPr/>
        </p:nvCxnSpPr>
        <p:spPr>
          <a:xfrm xmlns:a="http://schemas.openxmlformats.org/drawingml/2006/main" rot="-18093">
            <a:off x="9144017" y="2343150"/>
            <a:ext cx="2413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793E70E4-9131-4445-9C4B-468699E21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76500"/>
            <a:ext cx="2413000" cy="10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indent="0" algn="l">
              <a:lnSpc>
                <a:spcPct val="117000"/>
              </a:lnSpc>
              <a:buNone/>
            </a:pPr>
            <a:r>
              <a:rPr sz="135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"hopeless / worthless"</a:t>
            </a:r>
          </a:p>
          <a:p xmlns:a="http://schemas.openxmlformats.org/drawingml/2006/main">
            <a:pPr indent="0" algn="l">
              <a:lnSpc>
                <a:spcPct val="117000"/>
              </a:lnSpc>
              <a:buNone/>
            </a:pPr>
            <a:r>
              <a:rPr sz="135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"lost interest"</a:t>
            </a:r>
          </a:p>
        </p:txBody>
      </p:sp>
      <p:sp>
        <p:nvSpPr>
          <p:cNvPr id="20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E6506AB7-6996-426C-AA74-213F9154C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7000" y="3937000"/>
            <a:ext cx="2667000" cy="762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12700" cmpd="sng">
            <a:solidFill>
              <a:srgbClr val="D1D5DB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A0BAC6AA-265C-4F9A-B909-669E964CD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7000" y="3937000"/>
            <a:ext cx="76200" cy="762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CA825B43-CFCA-476B-A79E-270552FEA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7500" y="4000500"/>
            <a:ext cx="23495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indent="0" algn="l">
              <a:lnSpc>
                <a:spcPct val="125000"/>
              </a:lnSpc>
              <a:buNone/>
            </a:pPr>
            <a:r>
              <a:rPr sz="1500" b="0" i="0" u="none">
                <a:solidFill>
                  <a:srgbClr val="6B7280"/>
                </a:solidFill>
                <a:latin typeface="Noto Sans SC"/>
                <a:ea typeface="Noto Sans SC"/>
                <a:cs typeface="Noto Sans SC"/>
              </a:rPr>
              <a:t>文本提示档位</a:t>
            </a:r>
          </a:p>
          <a:p xmlns:a="http://schemas.openxmlformats.org/drawingml/2006/main">
            <a:pPr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高风险</a:t>
            </a:r>
          </a:p>
        </p:txBody>
      </p:sp>
      <p:sp>
        <p:nvSpPr>
          <p:cNvPr id="23" name="AutoShape 23">
            <a:extLst xmlns:a="http://schemas.openxmlformats.org/drawingml/2006/main">
              <a:ext uri="{FF2B5EF4-FFF2-40B4-BE49-F238E27FC236}">
                <a16:creationId xmlns:a16="http://schemas.microsoft.com/office/drawing/2014/main" id="{5123F8B5-9595-404F-B469-53B008CB4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7000" y="4826000"/>
            <a:ext cx="12954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12700" cmpd="sng">
            <a:solidFill>
              <a:srgbClr val="D1D5DB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AutoShape 24">
            <a:extLst xmlns:a="http://schemas.openxmlformats.org/drawingml/2006/main">
              <a:ext uri="{FF2B5EF4-FFF2-40B4-BE49-F238E27FC236}">
                <a16:creationId xmlns:a16="http://schemas.microsoft.com/office/drawing/2014/main" id="{D8ED252D-D093-4D47-A37C-DEBA2229C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8600" y="4953000"/>
            <a:ext cx="1092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indent="0" algn="l">
              <a:lnSpc>
                <a:spcPct val="125000"/>
              </a:lnSpc>
              <a:buNone/>
            </a:pPr>
            <a:r>
              <a:rPr sz="1275" b="0" i="0" u="none">
                <a:solidFill>
                  <a:srgbClr val="6B7280"/>
                </a:solidFill>
                <a:latin typeface="Noto Sans SC"/>
                <a:ea typeface="Noto Sans SC"/>
                <a:cs typeface="Noto Sans SC"/>
              </a:rPr>
              <a:t>模型阳性分数</a:t>
            </a:r>
          </a:p>
          <a:p xmlns:a="http://schemas.openxmlformats.org/drawingml/2006/main">
            <a:pPr indent="0" algn="l">
              <a:lnSpc>
                <a:spcPct val="125000"/>
              </a:lnSpc>
              <a:buNone/>
            </a:pPr>
            <a:r>
              <a:rPr sz="1275" b="1" i="0" u="none">
                <a:solidFill>
                  <a:srgbClr val="F59E0B"/>
                </a:solidFill>
                <a:latin typeface="Noto Sans SC"/>
                <a:ea typeface="Noto Sans SC"/>
                <a:cs typeface="Noto Sans SC"/>
              </a:rPr>
              <a:t>90.78%</a:t>
            </a:r>
          </a:p>
          <a:p xmlns:a="http://schemas.openxmlformats.org/drawingml/2006/main">
            <a:pPr indent="0" algn="l">
              <a:lnSpc>
                <a:spcPct val="125000"/>
              </a:lnSpc>
              <a:buNone/>
            </a:pPr>
            <a:r>
              <a:rPr sz="1275" b="0" i="0" u="none">
                <a:solidFill>
                  <a:srgbClr val="9CA3AF"/>
                </a:solidFill>
                <a:latin typeface="Noto Sans SC"/>
                <a:ea typeface="Noto Sans SC"/>
                <a:cs typeface="Noto Sans SC"/>
              </a:rPr>
              <a:t>非医学概率</a:t>
            </a:r>
          </a:p>
        </p:txBody>
      </p:sp>
      <p:sp>
        <p:nvSpPr>
          <p:cNvPr id="25" name="AutoShape 25">
            <a:extLst xmlns:a="http://schemas.openxmlformats.org/drawingml/2006/main">
              <a:ext uri="{FF2B5EF4-FFF2-40B4-BE49-F238E27FC236}">
                <a16:creationId xmlns:a16="http://schemas.microsoft.com/office/drawing/2014/main" id="{EE211C95-3DE4-4A4A-97E3-5047AB8C6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8600" y="4826000"/>
            <a:ext cx="12954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12700" cmpd="sng">
            <a:solidFill>
              <a:srgbClr val="D1D5DB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AutoShape 26">
            <a:extLst xmlns:a="http://schemas.openxmlformats.org/drawingml/2006/main">
              <a:ext uri="{FF2B5EF4-FFF2-40B4-BE49-F238E27FC236}">
                <a16:creationId xmlns:a16="http://schemas.microsoft.com/office/drawing/2014/main" id="{775A36C3-6860-4C2C-BFBD-229B0E758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0200" y="4953000"/>
            <a:ext cx="1092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indent="0" algn="l">
              <a:lnSpc>
                <a:spcPct val="125000"/>
              </a:lnSpc>
              <a:buNone/>
            </a:pPr>
            <a:r>
              <a:rPr sz="1275" b="0" i="0" u="none">
                <a:solidFill>
                  <a:srgbClr val="6B7280"/>
                </a:solidFill>
                <a:latin typeface="Noto Sans SC"/>
                <a:ea typeface="Noto Sans SC"/>
                <a:cs typeface="Noto Sans SC"/>
              </a:rPr>
              <a:t>VADER</a:t>
            </a:r>
          </a:p>
          <a:p xmlns:a="http://schemas.openxmlformats.org/drawingml/2006/main">
            <a:pPr indent="0" algn="l">
              <a:lnSpc>
                <a:spcPct val="125000"/>
              </a:lnSpc>
              <a:buNone/>
            </a:pPr>
            <a:r>
              <a:rPr sz="1275" b="1" i="0" u="none">
                <a:solidFill>
                  <a:srgbClr val="3B82F6"/>
                </a:solidFill>
                <a:latin typeface="Noto Sans SC"/>
                <a:ea typeface="Noto Sans SC"/>
                <a:cs typeface="Noto Sans SC"/>
              </a:rPr>
              <a:t>-0.45</a:t>
            </a:r>
          </a:p>
          <a:p xmlns:a="http://schemas.openxmlformats.org/drawingml/2006/main">
            <a:pPr indent="0" algn="l">
              <a:lnSpc>
                <a:spcPct val="125000"/>
              </a:lnSpc>
              <a:buNone/>
            </a:pPr>
            <a:r>
              <a:rPr sz="1275" b="0" i="0" u="none">
                <a:solidFill>
                  <a:srgbClr val="9CA3AF"/>
                </a:solidFill>
                <a:latin typeface="Noto Sans SC"/>
                <a:ea typeface="Noto Sans SC"/>
                <a:cs typeface="Noto Sans SC"/>
              </a:rPr>
              <a:t>负向情感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85a9fd7ce2498c"/>
          <a:stretch xmlns:a="http://schemas.openxmlformats.org/drawingml/2006/main"/>
        </p:blipFill>
        <p:spPr>
          <a:xfrm xmlns:a="http://schemas.openxmlformats.org/drawingml/2006/main">
            <a:off x="804340" y="1428750"/>
            <a:ext cx="7636923" cy="3857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449438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19fcdb5900044b36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241047BC-A6B7-4774-A698-90A8D7637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5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E0C32DE9-C062-40D1-AB91-772102D52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08 总结：成果、当前不足与未来改进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9214D099-CDCC-4AD7-A494-48BE342AA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3340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F2AD87B9-0531-43B3-ADCE-255BA34CC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762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A1FA70A4-6F5B-4E5E-BC33-540265213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16510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项目成果</a:t>
            </a:r>
          </a:p>
        </p:txBody>
      </p:sp>
      <p:cxnSp>
        <p:nvCxnSpPr>
          <p:cNvPr id="7" name="Connector 7"/>
          <p:cNvCxnSpPr/>
          <p:nvPr/>
        </p:nvCxnSpPr>
        <p:spPr>
          <a:xfrm xmlns:a="http://schemas.openxmlformats.org/drawingml/2006/main" rot="-9046">
            <a:off x="1016008" y="20891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10B981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3E9D564A-814D-4BDA-9D75-6CDAAF85F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222500"/>
            <a:ext cx="234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indent="0" algn="l">
              <a:lnSpc>
                <a:spcPct val="117000"/>
              </a:lnSpc>
              <a:buNone/>
            </a:pPr>
            <a:r>
              <a:rPr sz="135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✓ 两来源 7,647 条样本</a:t>
            </a:r>
          </a:p>
          <a:p xmlns:a="http://schemas.openxmlformats.org/drawingml/2006/main">
            <a:pPr indent="0" algn="l">
              <a:lnSpc>
                <a:spcPct val="117000"/>
              </a:lnSpc>
              <a:buNone/>
            </a:pPr>
            <a:r>
              <a:rPr sz="135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✓ TF-IDF + 辅助特征统一 Pipeline</a:t>
            </a:r>
          </a:p>
        </p:txBody>
      </p:sp>
      <p:cxnSp>
        <p:nvCxnSpPr>
          <p:cNvPr id="9" name="Connector 9"/>
          <p:cNvCxnSpPr/>
          <p:nvPr/>
        </p:nvCxnSpPr>
        <p:spPr>
          <a:xfrm xmlns:a="http://schemas.openxmlformats.org/drawingml/2006/main" rot="5367260">
            <a:off x="2825750" y="2882930"/>
            <a:ext cx="13335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10B981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E0CC6DA1-EF0E-4957-B25C-C0C74C5A8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222500"/>
            <a:ext cx="234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indent="0" algn="l">
              <a:lnSpc>
                <a:spcPct val="117000"/>
              </a:lnSpc>
              <a:buNone/>
            </a:pPr>
            <a:r>
              <a:rPr sz="135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✓ 四类模型比较与跨域评估</a:t>
            </a:r>
          </a:p>
          <a:p xmlns:a="http://schemas.openxmlformats.org/drawingml/2006/main">
            <a:pPr indent="0" algn="l">
              <a:lnSpc>
                <a:spcPct val="117000"/>
              </a:lnSpc>
              <a:buNone/>
            </a:pPr>
            <a:r>
              <a:rPr sz="135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✓ Tkinter GUI + CSV 批量脚本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1610F1D3-B1DE-478C-80D9-3F42908BC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64000"/>
            <a:ext cx="53340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6FA65C64-8314-45B3-A903-EEF37859E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64000"/>
            <a:ext cx="762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59E0B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1FAECE17-E3F6-4746-A407-D058784CF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1910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59E0B">
                    <a:alpha val="90196"/>
                  </a:srgbClr>
                </a:solidFill>
                <a:latin typeface="Noto Sans SC"/>
                <a:ea typeface="Noto Sans SC"/>
                <a:cs typeface="Noto Sans SC"/>
              </a:rPr>
              <a:t>02 当前不足</a:t>
            </a:r>
          </a:p>
        </p:txBody>
      </p:sp>
      <p:cxnSp>
        <p:nvCxnSpPr>
          <p:cNvPr id="14" name="Connector 14"/>
          <p:cNvCxnSpPr/>
          <p:nvPr/>
        </p:nvCxnSpPr>
        <p:spPr>
          <a:xfrm xmlns:a="http://schemas.openxmlformats.org/drawingml/2006/main" rot="-9046">
            <a:off x="1016008" y="46291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59E0B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DC9C24FC-021E-46E4-9BDE-D993EBB80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3" y="4762500"/>
            <a:ext cx="1524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indent="0" algn="l">
              <a:lnSpc>
                <a:spcPct val="125000"/>
              </a:lnSpc>
              <a:buNone/>
            </a:pPr>
            <a:r>
              <a:rPr sz="1275" b="1" i="0" u="none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数据与标签</a:t>
            </a:r>
          </a:p>
          <a:p xmlns:a="http://schemas.openxmlformats.org/drawingml/2006/main">
            <a:pPr indent="0" algn="l">
              <a:lnSpc>
                <a:spcPct val="108000"/>
              </a:lnSpc>
              <a:buNone/>
            </a:pPr>
            <a:r>
              <a:rPr sz="1275" b="0" i="0" u="none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主要来源为 Reddit；标签不是临床诊断，存在噪声。</a:t>
            </a:r>
          </a:p>
        </p:txBody>
      </p:sp>
      <p:cxnSp>
        <p:nvCxnSpPr>
          <p:cNvPr id="16" name="Connector 16"/>
          <p:cNvCxnSpPr/>
          <p:nvPr/>
        </p:nvCxnSpPr>
        <p:spPr>
          <a:xfrm xmlns:a="http://schemas.openxmlformats.org/drawingml/2006/main" rot="5365623">
            <a:off x="2032000" y="5454682"/>
            <a:ext cx="1270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D1D5DB">
                <a:alpha val="6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71B7C977-744B-4586-AAA2-15691EE98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3997" y="4762500"/>
            <a:ext cx="3111503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indent="0" algn="l">
              <a:lnSpc>
                <a:spcPct val="117000"/>
              </a:lnSpc>
              <a:buNone/>
            </a:pPr>
            <a:r>
              <a:rPr sz="1275" b="1" i="0" u="none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泛化与规则</a:t>
            </a:r>
          </a:p>
          <a:p xmlns:a="http://schemas.openxmlformats.org/drawingml/2006/main">
            <a:pPr indent="0" algn="l">
              <a:lnSpc>
                <a:spcPct val="117000"/>
              </a:lnSpc>
              <a:buNone/>
            </a:pPr>
            <a:r>
              <a:rPr sz="1275" b="1" i="0" u="none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跨域 F2 降至 0.717；GUI 后处理规则尚未独立评估。</a:t>
            </a: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0D6D34DF-5022-4956-8ED2-2143E84B7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24000"/>
            <a:ext cx="49530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DDCCB8D7-11FB-4533-A1A5-5D983EDA5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24000"/>
            <a:ext cx="762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B82F6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4480005E-5957-4335-A24B-FFAFCB2A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1000" y="1651000"/>
            <a:ext cx="444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3B82F6"/>
                </a:solidFill>
                <a:latin typeface="Noto Sans SC"/>
                <a:ea typeface="Noto Sans SC"/>
                <a:cs typeface="Noto Sans SC"/>
              </a:rPr>
              <a:t>03 未来改进</a:t>
            </a:r>
          </a:p>
        </p:txBody>
      </p:sp>
      <p:cxnSp>
        <p:nvCxnSpPr>
          <p:cNvPr id="21" name="Connector 21"/>
          <p:cNvCxnSpPr/>
          <p:nvPr/>
        </p:nvCxnSpPr>
        <p:spPr>
          <a:xfrm xmlns:a="http://schemas.openxmlformats.org/drawingml/2006/main" rot="-9822">
            <a:off x="6731009" y="2089150"/>
            <a:ext cx="4445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3B82F6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D6A56D8B-1BB1-4023-A564-B2566CDFB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1000" y="2222500"/>
            <a:ext cx="1460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indent="0" algn="l">
              <a:lnSpc>
                <a:spcPct val="125000"/>
              </a:lnSpc>
              <a:buNone/>
            </a:pPr>
            <a:r>
              <a:rPr sz="1275" b="1" i="0" u="none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模型与数据</a:t>
            </a:r>
          </a:p>
          <a:p xmlns:a="http://schemas.openxmlformats.org/drawingml/2006/main">
            <a:pPr indent="0" algn="l">
              <a:lnSpc>
                <a:spcPct val="108000"/>
              </a:lnSpc>
              <a:buNone/>
            </a:pPr>
            <a:r>
              <a:rPr sz="1275" b="0" i="0" u="none">
                <a:solidFill>
                  <a:srgbClr val="4B5563"/>
                </a:solidFill>
                <a:latin typeface="Noto Sans SC"/>
                <a:ea typeface="Noto Sans SC"/>
                <a:cs typeface="Noto Sans SC"/>
              </a:rPr>
              <a:t>补充独立来源；完成 MiniLM / BERT 对比与外部验证。</a:t>
            </a:r>
          </a:p>
        </p:txBody>
      </p:sp>
      <p:cxnSp>
        <p:nvCxnSpPr>
          <p:cNvPr id="23" name="Connector 23"/>
          <p:cNvCxnSpPr/>
          <p:nvPr/>
        </p:nvCxnSpPr>
        <p:spPr>
          <a:xfrm xmlns:a="http://schemas.openxmlformats.org/drawingml/2006/main" rot="5365623">
            <a:off x="7620000" y="2914682"/>
            <a:ext cx="1270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D1D5DB">
                <a:alpha val="6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AutoShape 24">
            <a:extLst xmlns:a="http://schemas.openxmlformats.org/drawingml/2006/main">
              <a:ext uri="{FF2B5EF4-FFF2-40B4-BE49-F238E27FC236}">
                <a16:creationId xmlns:a16="http://schemas.microsoft.com/office/drawing/2014/main" id="{7CB6D90D-833C-424E-BB69-3F00C0A4B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22500"/>
            <a:ext cx="2857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indent="0" algn="l">
              <a:lnSpc>
                <a:spcPct val="117000"/>
              </a:lnSpc>
              <a:buNone/>
            </a:pPr>
            <a:r>
              <a:rPr sz="1275" b="1" i="0" u="none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系统与评估</a:t>
            </a:r>
          </a:p>
          <a:p xmlns:a="http://schemas.openxmlformats.org/drawingml/2006/main">
            <a:pPr indent="0" algn="l">
              <a:lnSpc>
                <a:spcPct val="117000"/>
              </a:lnSpc>
              <a:buNone/>
            </a:pPr>
            <a:r>
              <a:rPr sz="1275" b="1" i="0" u="none">
                <a:solidFill>
                  <a:srgbClr val="1F2937"/>
                </a:solidFill>
                <a:latin typeface="Noto Sans SC"/>
                <a:ea typeface="Noto Sans SC"/>
                <a:cs typeface="Noto Sans SC"/>
              </a:rPr>
              <a:t>建立规则测试集；完善 Web 界面和批量可视化。</a:t>
            </a:r>
          </a:p>
        </p:txBody>
      </p:sp>
      <p:sp>
        <p:nvSpPr>
          <p:cNvPr id="26" name="AutoShape 26">
            <a:extLst xmlns:a="http://schemas.openxmlformats.org/drawingml/2006/main">
              <a:ext uri="{FF2B5EF4-FFF2-40B4-BE49-F238E27FC236}">
                <a16:creationId xmlns:a16="http://schemas.microsoft.com/office/drawing/2014/main" id="{0BFBBEE6-17FB-4953-9FEC-0C1D7A0FB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1000" y="4064000"/>
            <a:ext cx="21590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2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AutoShape 27">
            <a:extLst xmlns:a="http://schemas.openxmlformats.org/drawingml/2006/main">
              <a:ext uri="{FF2B5EF4-FFF2-40B4-BE49-F238E27FC236}">
                <a16:creationId xmlns:a16="http://schemas.microsoft.com/office/drawing/2014/main" id="{48A93304-1ADC-444A-BA41-10CA75A74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000" y="4254500"/>
            <a:ext cx="1905000" cy="184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indent="0" algn="l">
              <a:lnSpc>
                <a:spcPct val="117000"/>
              </a:lnSpc>
              <a:buNone/>
            </a:pPr>
            <a:r>
              <a:rPr sz="12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成员分工</a:t>
            </a:r>
          </a:p>
          <a:p xmlns:a="http://schemas.openxmlformats.org/drawingml/2006/main">
            <a:pPr indent="0" algn="l">
              <a:lnSpc>
                <a:spcPct val="108000"/>
              </a:lnSpc>
              <a:buNone/>
            </a:pPr>
            <a:r>
              <a:rPr sz="12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萧准：选题与初步方案</a:t>
            </a:r>
          </a:p>
          <a:p xmlns:a="http://schemas.openxmlformats.org/drawingml/2006/main">
            <a:pPr indent="0" algn="l">
              <a:lnSpc>
                <a:spcPct val="108000"/>
              </a:lnSpc>
              <a:buNone/>
            </a:pPr>
            <a:r>
              <a:rPr sz="12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任冉：数据收集与统计核对</a:t>
            </a:r>
          </a:p>
          <a:p xmlns:a="http://schemas.openxmlformats.org/drawingml/2006/main">
            <a:pPr indent="0" algn="l">
              <a:lnSpc>
                <a:spcPct val="108000"/>
              </a:lnSpc>
              <a:buNone/>
            </a:pPr>
            <a:r>
              <a:rPr sz="12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共同：AI 辅助实现、实验与报告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aec5172fcf4f50"/>
          <a:stretch xmlns:a="http://schemas.openxmlformats.org/drawingml/2006/main"/>
        </p:blipFill>
        <p:spPr>
          <a:xfrm xmlns:a="http://schemas.openxmlformats.org/drawingml/2006/main">
            <a:off x="6477000" y="4286252"/>
            <a:ext cx="2667000" cy="177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068286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2026-06-14T12:13:18.1730000Z</dcterms:created>
  <dcterms:modified xsi:type="dcterms:W3CDTF">2026-06-14T12:13:18.1730000Z</dcterms:modified>
</coreProperties>
</file>